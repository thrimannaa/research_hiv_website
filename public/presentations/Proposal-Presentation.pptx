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9144000" cy="5143500" type="screen16x9"/>
  <p:notesSz cx="6858000" cy="9144000"/>
  <p:embeddedFontLst>
    <p:embeddedFont>
      <p:font typeface="Barlow" panose="00000500000000000000" pitchFamily="2" charset="0"/>
      <p:regular r:id="rId36"/>
      <p:bold r:id="rId37"/>
      <p:italic r:id="rId38"/>
      <p:boldItalic r:id="rId39"/>
    </p:embeddedFont>
    <p:embeddedFont>
      <p:font typeface="Barlow Light" panose="00000400000000000000" pitchFamily="2" charset="0"/>
      <p:regular r:id="rId40"/>
      <p:bold r:id="rId41"/>
      <p:italic r:id="rId42"/>
      <p:boldItalic r:id="rId43"/>
    </p:embeddedFont>
    <p:embeddedFont>
      <p:font typeface="Noto Sans Symbols" panose="020B0604020202020204" charset="0"/>
      <p:regular r:id="rId44"/>
      <p:bold r:id="rId45"/>
    </p:embeddedFont>
    <p:embeddedFont>
      <p:font typeface="Raleway Thin" pitchFamily="2" charset="0"/>
      <p:regular r:id="rId46"/>
      <p:bold r:id="rId47"/>
      <p:italic r:id="rId48"/>
      <p:boldItalic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gLHY14usTsCeqCBwcrlZu+OL0f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45F542E-D5B4-4AFA-8CB1-8A334B1FCBFD}">
  <a:tblStyle styleId="{D45F542E-D5B4-4AFA-8CB1-8A334B1FCB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85BA321-6FB2-46CA-B99F-390929C9BC27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2A500F-2508-426F-ACCE-907477A66544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BE85AC2-2981-4CFC-8DF7-FCF2F29979DC}" styleName="Table_3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8E8"/>
          </a:solidFill>
        </a:fill>
      </a:tcStyle>
    </a:wholeTbl>
    <a:band1H>
      <a:tcTxStyle/>
      <a:tcStyle>
        <a:tcBdr/>
        <a:fill>
          <a:solidFill>
            <a:srgbClr val="CDCDC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CDC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1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54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" name="Google Shape;3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9d696d425_1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g399d696d425_1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5b7aa087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3a5b7aa087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7" name="Google Shape;317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>
            <a:spLocks noGrp="1"/>
          </p:cNvSpPr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0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1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1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2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2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2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2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2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3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marL="914400" lvl="1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marL="1371600" lvl="2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marL="1828800" lvl="3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marL="2286000" lvl="4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marL="2743200" lvl="5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marL="3200400" lvl="6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marL="3657600" lvl="7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marL="4114800" lvl="8" indent="-330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9"/>
          <p:cNvSpPr txBox="1">
            <a:spLocks noGrp="1"/>
          </p:cNvSpPr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marR="0" lvl="1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marR="0" lvl="2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marR="0" lvl="3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marR="0" lvl="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marR="0" lvl="5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marR="0" lvl="6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marR="0" lvl="7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marR="0" lvl="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sz="4800" b="0" i="0" u="none" strike="noStrike" cap="non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>
            <a:endParaRPr/>
          </a:p>
        </p:txBody>
      </p:sp>
      <p:sp>
        <p:nvSpPr>
          <p:cNvPr id="7" name="Google Shape;7;p29"/>
          <p:cNvSpPr txBox="1">
            <a:spLocks noGrp="1"/>
          </p:cNvSpPr>
          <p:nvPr>
            <p:ph type="body" idx="1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marR="0" lvl="3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marR="0" lvl="4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marR="0" lvl="5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marR="0" lvl="6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marR="0" lvl="7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marR="0" lvl="8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 b="0" i="0" u="none" strike="noStrike" cap="non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pic>
        <p:nvPicPr>
          <p:cNvPr id="8" name="Google Shape;8;p2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077" y="4736840"/>
            <a:ext cx="2145059" cy="37538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/>
        </p:nvSpPr>
        <p:spPr>
          <a:xfrm>
            <a:off x="1008743" y="909142"/>
            <a:ext cx="7866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latin typeface="Calibri"/>
                <a:ea typeface="Calibri"/>
                <a:cs typeface="Calibri"/>
                <a:sym typeface="Calibri"/>
              </a:rPr>
              <a:t>End-to-end predictive and prescriptive system for HIV: integrated risk assessment, early detection, and treatment optimization</a:t>
            </a: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1016002" y="2571750"/>
            <a:ext cx="7119255" cy="0"/>
          </a:xfrm>
          <a:prstGeom prst="straightConnector1">
            <a:avLst/>
          </a:prstGeom>
          <a:noFill/>
          <a:ln w="57150" cap="flat" cmpd="sng">
            <a:solidFill>
              <a:srgbClr val="373C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p1"/>
          <p:cNvSpPr txBox="1"/>
          <p:nvPr/>
        </p:nvSpPr>
        <p:spPr>
          <a:xfrm>
            <a:off x="1095830" y="2629807"/>
            <a:ext cx="5577118" cy="6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rPr lang="en-US" sz="3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Group ID - 25-26J-147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Barlow Light"/>
              <a:buNone/>
            </a:pPr>
            <a:endParaRPr sz="24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" descr="A person wearing glasses and a black jacke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26992" y="2522040"/>
            <a:ext cx="1442389" cy="1578120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" name="Google Shape;41;p2"/>
          <p:cNvSpPr txBox="1">
            <a:spLocks noGrp="1"/>
          </p:cNvSpPr>
          <p:nvPr>
            <p:ph type="title"/>
          </p:nvPr>
        </p:nvSpPr>
        <p:spPr>
          <a:xfrm>
            <a:off x="53297" y="177543"/>
            <a:ext cx="3118430" cy="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Our Research Team</a:t>
            </a:r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645975" y="4152276"/>
            <a:ext cx="1489200" cy="3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endParaRPr sz="14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3515909" y="2070768"/>
            <a:ext cx="2211059" cy="53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Ms. Gaya Thamali Dassanayake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endParaRPr sz="14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981993" y="4181097"/>
            <a:ext cx="1489200" cy="3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Rupasinghe R.A.D.N.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IT22907066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endParaRPr sz="14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4">
            <a:alphaModFix/>
          </a:blip>
          <a:srcRect t="1428" b="1429"/>
          <a:stretch/>
        </p:blipFill>
        <p:spPr>
          <a:xfrm>
            <a:off x="4023637" y="2571750"/>
            <a:ext cx="1489200" cy="1495257"/>
          </a:xfrm>
          <a:prstGeom prst="ellipse">
            <a:avLst/>
          </a:prstGeom>
          <a:noFill/>
          <a:ln w="28575" cap="rnd" cmpd="sng">
            <a:solidFill>
              <a:srgbClr val="005C8A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7" name="Google Shape;47;p2"/>
          <p:cNvSpPr txBox="1"/>
          <p:nvPr/>
        </p:nvSpPr>
        <p:spPr>
          <a:xfrm>
            <a:off x="4036991" y="4150700"/>
            <a:ext cx="1489200" cy="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Thrimanna A.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IT22585530</a:t>
            </a:r>
            <a:endParaRPr sz="12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endParaRPr sz="14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7070768" y="4122722"/>
            <a:ext cx="1489200" cy="3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Jayarathna J.V.D.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IT22577610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member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</a:br>
            <a:endParaRPr sz="1400" b="0" i="0" u="none" strike="noStrike" cap="none">
              <a:solidFill>
                <a:srgbClr val="000000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055864" y="2653532"/>
            <a:ext cx="1354800" cy="1474500"/>
          </a:xfrm>
          <a:prstGeom prst="ellipse">
            <a:avLst/>
          </a:prstGeom>
          <a:noFill/>
          <a:ln w="25400" cap="flat" cmpd="sng">
            <a:solidFill>
              <a:srgbClr val="004C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6583" y="519801"/>
            <a:ext cx="1590000" cy="1538400"/>
          </a:xfrm>
          <a:prstGeom prst="ellipse">
            <a:avLst/>
          </a:prstGeom>
          <a:noFill/>
          <a:ln w="12700" cap="rnd" cmpd="sng">
            <a:solidFill>
              <a:srgbClr val="080808"/>
            </a:solidFill>
            <a:prstDash val="solid"/>
            <a:round/>
            <a:headEnd type="none" w="sm" len="sm"/>
            <a:tailEnd type="none" w="sm" len="sm"/>
          </a:ln>
          <a:effectLst>
            <a:outerShdw blurRad="381000" dist="292100" dir="5400000" sx="-80000" sy="-18000" rotWithShape="0">
              <a:srgbClr val="000000">
                <a:alpha val="21960"/>
              </a:srgbClr>
            </a:outerShdw>
          </a:effectLst>
        </p:spPr>
      </p:pic>
      <p:sp>
        <p:nvSpPr>
          <p:cNvPr id="51" name="Google Shape;51;p2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" name="Google Shape;52;p2" descr="A person in a suit and tie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5719" y="2522900"/>
            <a:ext cx="1553700" cy="1553700"/>
          </a:xfrm>
          <a:prstGeom prst="ellipse">
            <a:avLst/>
          </a:prstGeom>
          <a:noFill/>
          <a:ln w="28575" cap="flat" cmpd="sng">
            <a:solidFill>
              <a:srgbClr val="1D1F28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/>
          <p:nvPr/>
        </p:nvSpPr>
        <p:spPr>
          <a:xfrm>
            <a:off x="348341" y="581009"/>
            <a:ext cx="8294593" cy="7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INTRODUCTION TO OVERALL PROJECT</a:t>
            </a:r>
            <a:endParaRPr sz="2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 txBox="1"/>
          <p:nvPr/>
        </p:nvSpPr>
        <p:spPr>
          <a:xfrm>
            <a:off x="555141" y="2140174"/>
            <a:ext cx="80337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1. Behavioral risk prediction</a:t>
            </a:r>
            <a:r>
              <a:rPr lang="en-US" sz="1200"/>
              <a:t> using publicly available datasets with raw columns capturing individual risky behaviors, and preventive practices.</a:t>
            </a:r>
            <a:endParaRPr sz="120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2. Deep-learning chest X-ray analysis</a:t>
            </a:r>
            <a:r>
              <a:rPr lang="en-US" sz="1200"/>
              <a:t> for detecting TB and Pneumonia—two of the most fatal HIV-related infections.</a:t>
            </a:r>
            <a:endParaRPr sz="12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/>
              <a:t>3. Treatment Optimization and Adherence Prediction for HIV Patients</a:t>
            </a:r>
            <a:endParaRPr sz="120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9" name="Google Shape;59;p3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204311" y="1262931"/>
            <a:ext cx="8735400" cy="7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/>
              <a:t>HIV patients face high vulnerability to opportunistic infections due to weakened immunity, limited access to radiologists, and delays in diagnosis in resource-constrained clinical settings. This project develops a unified AI-driven early-screening system with three core components:</a:t>
            </a:r>
            <a:endParaRPr sz="1200"/>
          </a:p>
        </p:txBody>
      </p:sp>
      <p:sp>
        <p:nvSpPr>
          <p:cNvPr id="61" name="Google Shape;61;p3"/>
          <p:cNvSpPr txBox="1"/>
          <p:nvPr/>
        </p:nvSpPr>
        <p:spPr>
          <a:xfrm>
            <a:off x="424650" y="3754600"/>
            <a:ext cx="82947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/>
              <a:t>The system enables faster, more reliable early detection of HIV-associated lung complications, reduces diagnostic delays, and supports clinical decision-making where specialist resources are limited.</a:t>
            </a:r>
            <a:endParaRPr sz="12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 txBox="1"/>
          <p:nvPr/>
        </p:nvSpPr>
        <p:spPr>
          <a:xfrm>
            <a:off x="348350" y="268101"/>
            <a:ext cx="8294700" cy="7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Research impact of the solution in Sri Lanka  </a:t>
            </a:r>
            <a:endParaRPr sz="2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342888" y="1164726"/>
            <a:ext cx="83055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Early diagnosis:</a:t>
            </a:r>
            <a:r>
              <a:rPr lang="en-US" sz="2000"/>
              <a:t> Faster detection of TB and pneumonia reduces HIV-related complications and mortality.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Clinical efficiency:</a:t>
            </a:r>
            <a:r>
              <a:rPr lang="en-US" sz="2000"/>
              <a:t> AI-assisted screening supports doctors and reduces diagnostic workload in busy or low-resource clinics.</a:t>
            </a:r>
            <a:endParaRPr sz="2000"/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Healthcare accessibility:</a:t>
            </a:r>
            <a:r>
              <a:rPr lang="en-US" sz="2000"/>
              <a:t> Mobile/Web deployment brings reliable screening to rural areas lacking radiologists.</a:t>
            </a:r>
            <a:endParaRPr sz="2000"/>
          </a:p>
          <a:p>
            <a:pPr marL="457200" marR="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 b="1"/>
              <a:t>National benefit:</a:t>
            </a:r>
            <a:r>
              <a:rPr lang="en-US" sz="2000"/>
              <a:t> Strengthens public health response, improves patient outcomes, and supports early intervention in HIV care programs.</a:t>
            </a:r>
            <a:endParaRPr sz="2000" b="1"/>
          </a:p>
        </p:txBody>
      </p:sp>
      <p:sp>
        <p:nvSpPr>
          <p:cNvPr id="68" name="Google Shape;68;p4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9d696d425_11_56"/>
          <p:cNvSpPr txBox="1"/>
          <p:nvPr/>
        </p:nvSpPr>
        <p:spPr>
          <a:xfrm>
            <a:off x="6931908" y="4804946"/>
            <a:ext cx="132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99d696d425_11_56"/>
          <p:cNvSpPr txBox="1"/>
          <p:nvPr/>
        </p:nvSpPr>
        <p:spPr>
          <a:xfrm>
            <a:off x="424650" y="4023425"/>
            <a:ext cx="8294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/>
              <a:t>cycle of </a:t>
            </a:r>
            <a:r>
              <a:rPr lang="en-US" sz="1100" b="1"/>
              <a:t>late diagnosis → severe infection → treatment failure</a:t>
            </a:r>
            <a:r>
              <a:rPr lang="en-US" sz="1100"/>
              <a:t>, which our project aims to break using AI-driven early screening and prediction</a:t>
            </a:r>
            <a:endParaRPr sz="1200" b="1"/>
          </a:p>
        </p:txBody>
      </p:sp>
      <p:pic>
        <p:nvPicPr>
          <p:cNvPr id="75" name="Google Shape;75;g399d696d425_11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0012" y="286725"/>
            <a:ext cx="6103975" cy="367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/>
        </p:nvSpPr>
        <p:spPr>
          <a:xfrm>
            <a:off x="348341" y="418170"/>
            <a:ext cx="8294700" cy="7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Previous research and its shortcomings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348341" y="1366145"/>
            <a:ext cx="8033700" cy="32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/>
              <a:t>Done before:</a:t>
            </a:r>
            <a:br>
              <a:rPr lang="en-US" sz="1800" b="1"/>
            </a:br>
            <a:r>
              <a:rPr lang="en-US" sz="1800"/>
              <a:t> CNN-based TB detectors, pneumonia classifiers, standalone HIV risk scoring models, and traditional radiology-based diagnosis methods.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 b="1"/>
              <a:t>Limitations:</a:t>
            </a:r>
            <a:br>
              <a:rPr lang="en-US" sz="1800" b="1"/>
            </a:br>
            <a:r>
              <a:rPr lang="en-US" sz="1800"/>
              <a:t> Disease models trained on general populations (not HIV-specific), limited use of clinical biomarkers, poor performance on mixed opportunistic infections, lack of explainability validation, and absence of integrated, real-time mobile or web-based screening tools.</a:t>
            </a:r>
            <a:endParaRPr sz="180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2" name="Google Shape;82;p5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/>
        </p:nvSpPr>
        <p:spPr>
          <a:xfrm>
            <a:off x="348341" y="581009"/>
            <a:ext cx="8294593" cy="795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Constraints and Limitations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747574" y="1269834"/>
            <a:ext cx="7635600" cy="3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b="1"/>
              <a:t>Data:</a:t>
            </a:r>
            <a:r>
              <a:rPr lang="en-US" sz="1700"/>
              <a:t> Reliance on publicly available X-ray and HIV clinical datasets; limited HIV-specific imaging data may affect model accuracy.</a:t>
            </a: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b="1"/>
              <a:t>Uncertainty:</a:t>
            </a:r>
            <a:r>
              <a:rPr lang="en-US" sz="1700"/>
              <a:t> Variations in X-ray quality, equipment differences, and atypical patterns in advanced HIV cases can reduce consistency.</a:t>
            </a:r>
            <a:endParaRPr sz="1700"/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b="1"/>
              <a:t>Integration:</a:t>
            </a:r>
            <a:r>
              <a:rPr lang="en-US" sz="1700"/>
              <a:t> Real-time deployment with mobile/web apps and ensuring reliable backend performance in low-resource clinics can be challenging.</a:t>
            </a:r>
            <a:endParaRPr sz="1700"/>
          </a:p>
          <a:p>
            <a:pPr marL="457200" marR="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 b="1"/>
              <a:t>Scope:</a:t>
            </a:r>
            <a:r>
              <a:rPr lang="en-US" sz="1700"/>
              <a:t> This is a research prototype; clinical validation and larger hospital-level trials are required for widespread adoption.</a:t>
            </a:r>
            <a:endParaRPr sz="1700" b="1"/>
          </a:p>
        </p:txBody>
      </p:sp>
      <p:sp>
        <p:nvSpPr>
          <p:cNvPr id="89" name="Google Shape;89;p6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5b7aa087e_0_6"/>
          <p:cNvSpPr txBox="1"/>
          <p:nvPr/>
        </p:nvSpPr>
        <p:spPr>
          <a:xfrm>
            <a:off x="231725" y="-80721"/>
            <a:ext cx="8294700" cy="4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Overall System Diagram</a:t>
            </a:r>
            <a:endParaRPr sz="2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g3a5b7aa087e_0_6"/>
          <p:cNvSpPr txBox="1"/>
          <p:nvPr/>
        </p:nvSpPr>
        <p:spPr>
          <a:xfrm>
            <a:off x="555141" y="2140174"/>
            <a:ext cx="80337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96" name="Google Shape;96;g3a5b7aa087e_0_6"/>
          <p:cNvSpPr txBox="1"/>
          <p:nvPr/>
        </p:nvSpPr>
        <p:spPr>
          <a:xfrm>
            <a:off x="6931908" y="4804946"/>
            <a:ext cx="1323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3a5b7aa087e_0_6" title="generated-imag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9550" y="505575"/>
            <a:ext cx="7304899" cy="429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>
            <a:spLocks noGrp="1"/>
          </p:cNvSpPr>
          <p:nvPr>
            <p:ph type="subTitle" idx="4294967295"/>
          </p:nvPr>
        </p:nvSpPr>
        <p:spPr>
          <a:xfrm>
            <a:off x="330198" y="3002099"/>
            <a:ext cx="5577118" cy="6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IT22907066 – Rupasinghe R.A.D.N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Specialization : Data Science</a:t>
            </a:r>
            <a:endParaRPr sz="36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330198" y="1493936"/>
            <a:ext cx="6230257" cy="114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Deep Learning X-ray Model for HIV-related Lung Infection Detection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7"/>
          <p:cNvCxnSpPr/>
          <p:nvPr/>
        </p:nvCxnSpPr>
        <p:spPr>
          <a:xfrm>
            <a:off x="330198" y="2837543"/>
            <a:ext cx="6302831" cy="0"/>
          </a:xfrm>
          <a:prstGeom prst="straightConnector1">
            <a:avLst/>
          </a:prstGeom>
          <a:noFill/>
          <a:ln w="57150" cap="flat" cmpd="sng">
            <a:solidFill>
              <a:srgbClr val="373C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5" name="Google Shape;105;p7"/>
          <p:cNvSpPr txBox="1"/>
          <p:nvPr/>
        </p:nvSpPr>
        <p:spPr>
          <a:xfrm>
            <a:off x="2588208" y="4812923"/>
            <a:ext cx="4343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IT22907066 | Rupasinghe R.A.D.N | 25-26J-147</a:t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9669517" y="-262759"/>
            <a:ext cx="184731" cy="307777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7" descr="A person in a suit and ti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1050" y="414816"/>
            <a:ext cx="1652752" cy="1652752"/>
          </a:xfrm>
          <a:prstGeom prst="ellipse">
            <a:avLst/>
          </a:prstGeom>
          <a:noFill/>
          <a:ln w="28575" cap="flat" cmpd="sng">
            <a:solidFill>
              <a:srgbClr val="080808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" name="Google Shape;108;p7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348350" y="1003600"/>
            <a:ext cx="8300700" cy="37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Noto Sans Symbols"/>
              <a:buChar char="❖"/>
            </a:pPr>
            <a:r>
              <a:rPr lang="en-US" sz="148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Knowledge Gap / Problem Definition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HIV-positive patients have </a:t>
            </a:r>
            <a:r>
              <a:rPr lang="en-US" sz="1100" b="1"/>
              <a:t>unique, a typical lung X-ray patterns</a:t>
            </a:r>
            <a:r>
              <a:rPr lang="en-US" sz="1100"/>
              <a:t>, making TB/Pneumonia detection harder compared to normal patients.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Existing AI TB/Pneumonia models are trained on </a:t>
            </a:r>
            <a:r>
              <a:rPr lang="en-US" sz="1100" b="1"/>
              <a:t>general populations</a:t>
            </a:r>
            <a:r>
              <a:rPr lang="en-US" sz="1100"/>
              <a:t>, not HIV-immunocompromised individuals.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No integrated system combines </a:t>
            </a:r>
            <a:r>
              <a:rPr lang="en-US" sz="1100" b="1"/>
              <a:t>clinical factors (CD4 count, viral load)</a:t>
            </a:r>
            <a:r>
              <a:rPr lang="en-US" sz="1100"/>
              <a:t> with </a:t>
            </a:r>
            <a:r>
              <a:rPr lang="en-US" sz="1100" b="1"/>
              <a:t>chest X-ray image analysis</a:t>
            </a:r>
            <a:r>
              <a:rPr lang="en-US" sz="1100"/>
              <a:t>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Noto Sans Symbols"/>
              <a:buChar char="❖"/>
            </a:pPr>
            <a:r>
              <a:rPr lang="en-US" sz="148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Shortcomings of Existing Systems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Manual X-ray reading is </a:t>
            </a:r>
            <a:r>
              <a:rPr lang="en-US" sz="1100" b="1"/>
              <a:t>slow</a:t>
            </a:r>
            <a:r>
              <a:rPr lang="en-US" sz="1100"/>
              <a:t>, depends on radiologist availability.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Current AI TB detectors </a:t>
            </a:r>
            <a:r>
              <a:rPr lang="en-US" sz="1100" b="1"/>
              <a:t>don’t work well for HIV patients</a:t>
            </a:r>
            <a:r>
              <a:rPr lang="en-US" sz="1100"/>
              <a:t>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No clinical + image integration.</a:t>
            </a:r>
            <a:endParaRPr sz="1100"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❖"/>
            </a:pPr>
            <a:r>
              <a:rPr lang="en-US" sz="1100"/>
              <a:t>No real deployments (mobile/web) for HIV clinics.</a:t>
            </a:r>
            <a:endParaRPr sz="1295">
              <a:solidFill>
                <a:schemeClr val="dk1"/>
              </a:solidFill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Clr>
                <a:srgbClr val="000000"/>
              </a:buClr>
              <a:buSzPts val="1480"/>
              <a:buFont typeface="Noto Sans Symbols"/>
              <a:buChar char="❖"/>
            </a:pPr>
            <a:r>
              <a:rPr lang="en-US" sz="148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Proven Gap / Creative Solution </a:t>
            </a:r>
            <a:endParaRPr/>
          </a:p>
          <a:p>
            <a:pPr marL="914400" lvl="1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Font typeface="Noto Sans Symbols"/>
              <a:buChar char="❖"/>
            </a:pPr>
            <a:r>
              <a:rPr lang="en-US" sz="1100" b="1"/>
              <a:t>Proven Gap:</a:t>
            </a:r>
            <a:r>
              <a:rPr lang="en-US" sz="1100"/>
              <a:t> Existing TB/Pneumonia detection models are not optimized for HIV-positive patients, lack clinical data integration, and are rarely deployed as real-time tools in low-resource clinics.</a:t>
            </a:r>
            <a:endParaRPr sz="1100"/>
          </a:p>
          <a:p>
            <a:pPr marL="914400" lvl="1" indent="-31083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95"/>
              <a:buFont typeface="Noto Sans Symbols"/>
              <a:buChar char="❖"/>
            </a:pPr>
            <a:r>
              <a:rPr lang="en-US" sz="1100" b="1"/>
              <a:t>Creative Solution:</a:t>
            </a:r>
            <a:r>
              <a:rPr lang="en-US" sz="1100"/>
              <a:t> A hybrid AI system combining </a:t>
            </a:r>
            <a:r>
              <a:rPr lang="en-US" sz="1100" b="1"/>
              <a:t>deep-learning X-ray analysis (CNN/ResNet)</a:t>
            </a:r>
            <a:r>
              <a:rPr lang="en-US" sz="1100"/>
              <a:t> with </a:t>
            </a:r>
            <a:r>
              <a:rPr lang="en-US" sz="1100" b="1"/>
              <a:t>clinical risk factors (CD4 count, symptoms)</a:t>
            </a:r>
            <a:r>
              <a:rPr lang="en-US" sz="1100"/>
              <a:t>, delivered through a </a:t>
            </a:r>
            <a:r>
              <a:rPr lang="en-US" sz="1100" b="1"/>
              <a:t>web/mobile app</a:t>
            </a:r>
            <a:r>
              <a:rPr lang="en-US" sz="1100"/>
              <a:t> for fast, reliable early detection of HIV-related lung infections in real-world healthcare settings.</a:t>
            </a:r>
            <a:endParaRPr sz="1295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2588208" y="4812923"/>
            <a:ext cx="4343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IT22907066 | Rupasinghe R.A.D.N | 25-26J-147</a:t>
            </a: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1953000" y="462475"/>
            <a:ext cx="523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Deep Learning X-ray Model for HIV-related Lung Infection Detection</a:t>
            </a: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/>
        </p:nvSpPr>
        <p:spPr>
          <a:xfrm>
            <a:off x="809368" y="880125"/>
            <a:ext cx="5307653" cy="486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Key Domains of Specialization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67714" y="91930"/>
            <a:ext cx="1955115" cy="11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9"/>
          <p:cNvSpPr txBox="1"/>
          <p:nvPr/>
        </p:nvSpPr>
        <p:spPr>
          <a:xfrm>
            <a:off x="2588208" y="4812923"/>
            <a:ext cx="4343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IT22907066 | Rupasinghe R.A.D.N | 25-26J-147</a:t>
            </a:r>
            <a:endParaRPr/>
          </a:p>
        </p:txBody>
      </p:sp>
      <p:pic>
        <p:nvPicPr>
          <p:cNvPr id="125" name="Google Shape;12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138" y="880125"/>
            <a:ext cx="653741" cy="65374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 txBox="1"/>
          <p:nvPr/>
        </p:nvSpPr>
        <p:spPr>
          <a:xfrm>
            <a:off x="346961" y="1539941"/>
            <a:ext cx="8450100" cy="12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▪"/>
            </a:pPr>
            <a:r>
              <a:rPr lang="en-US" sz="1100" b="1"/>
              <a:t>Deep Learning (CNNs)</a:t>
            </a:r>
            <a:endParaRPr sz="1100" b="1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▪"/>
            </a:pPr>
            <a:r>
              <a:rPr lang="en-US" sz="1100" b="1"/>
              <a:t>Medical Imaging</a:t>
            </a:r>
            <a:endParaRPr sz="1100" b="1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▪"/>
            </a:pPr>
            <a:r>
              <a:rPr lang="en-US" sz="1100" b="1"/>
              <a:t>Predictive Analytics</a:t>
            </a:r>
            <a:endParaRPr sz="1100" b="1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▪"/>
            </a:pPr>
            <a:r>
              <a:rPr lang="en-US" sz="1100" b="1"/>
              <a:t>Explainable AI</a:t>
            </a:r>
            <a:endParaRPr sz="1100" b="1"/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ymbols"/>
              <a:buChar char="▪"/>
            </a:pPr>
            <a:r>
              <a:rPr lang="en-US" sz="1100" b="1"/>
              <a:t>Web/Mobile App Development</a:t>
            </a:r>
            <a:endParaRPr sz="1100" b="1"/>
          </a:p>
        </p:txBody>
      </p:sp>
      <p:sp>
        <p:nvSpPr>
          <p:cNvPr id="128" name="Google Shape;128;p9"/>
          <p:cNvSpPr txBox="1"/>
          <p:nvPr/>
        </p:nvSpPr>
        <p:spPr>
          <a:xfrm>
            <a:off x="809368" y="2952276"/>
            <a:ext cx="5822660" cy="603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Latest Technologies Utilized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346961" y="3424160"/>
            <a:ext cx="84501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1100" b="1"/>
              <a:t>AI:</a:t>
            </a:r>
            <a:r>
              <a:rPr lang="en-US" sz="1100"/>
              <a:t> PyTorch/TensorFlow, ResNet, MobileNet, GradCAM</a:t>
            </a:r>
            <a:endParaRPr sz="11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1100" b="1"/>
              <a:t>Backend:</a:t>
            </a:r>
            <a:r>
              <a:rPr lang="en-US" sz="1100"/>
              <a:t> FastAPI / Flask</a:t>
            </a:r>
            <a:endParaRPr sz="11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1100" b="1"/>
              <a:t>Frontend:</a:t>
            </a:r>
            <a:r>
              <a:rPr lang="en-US" sz="1100"/>
              <a:t> React / Flutter</a:t>
            </a:r>
            <a:endParaRPr sz="11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Symbols"/>
              <a:buChar char="▪"/>
            </a:pPr>
            <a:r>
              <a:rPr lang="en-US" sz="1100" b="1"/>
              <a:t>Cloud:</a:t>
            </a:r>
            <a:r>
              <a:rPr lang="en-US" sz="1100"/>
              <a:t> AWS / Docker</a:t>
            </a:r>
            <a:br>
              <a:rPr lang="en-US" sz="1100"/>
            </a:br>
            <a:r>
              <a:rPr lang="en-US" sz="1100" b="1"/>
              <a:t>Database:</a:t>
            </a:r>
            <a:r>
              <a:rPr lang="en-US" sz="1100"/>
              <a:t> MongoDB / Firebase</a:t>
            </a:r>
            <a:endParaRPr sz="1600" b="1"/>
          </a:p>
        </p:txBody>
      </p:sp>
      <p:pic>
        <p:nvPicPr>
          <p:cNvPr id="130" name="Google Shape;13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5627" y="2955894"/>
            <a:ext cx="653741" cy="653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"/>
          <p:cNvSpPr txBox="1"/>
          <p:nvPr/>
        </p:nvSpPr>
        <p:spPr>
          <a:xfrm>
            <a:off x="1953000" y="474750"/>
            <a:ext cx="523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Deep Learning X-ray Model for HIV-related Lung Infection Detection</a:t>
            </a: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37" name="Google Shape;137;p10"/>
          <p:cNvSpPr txBox="1"/>
          <p:nvPr/>
        </p:nvSpPr>
        <p:spPr>
          <a:xfrm>
            <a:off x="502550" y="731625"/>
            <a:ext cx="17736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Research Gap</a:t>
            </a:r>
            <a:endParaRPr/>
          </a:p>
        </p:txBody>
      </p:sp>
      <p:sp>
        <p:nvSpPr>
          <p:cNvPr id="138" name="Google Shape;138;p10"/>
          <p:cNvSpPr/>
          <p:nvPr/>
        </p:nvSpPr>
        <p:spPr>
          <a:xfrm>
            <a:off x="457200" y="225901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0"/>
          <p:cNvSpPr txBox="1"/>
          <p:nvPr/>
        </p:nvSpPr>
        <p:spPr>
          <a:xfrm>
            <a:off x="2588208" y="4812923"/>
            <a:ext cx="4343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IT22907066 | Rupasinghe R.A.D.N | 25-26J-147</a:t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0"/>
          <p:cNvSpPr txBox="1"/>
          <p:nvPr/>
        </p:nvSpPr>
        <p:spPr>
          <a:xfrm>
            <a:off x="1953000" y="346000"/>
            <a:ext cx="523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Deep Learning X-ray Model for HIV-related Lung Infection Detection</a:t>
            </a: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10"/>
          <p:cNvGraphicFramePr/>
          <p:nvPr/>
        </p:nvGraphicFramePr>
        <p:xfrm>
          <a:off x="382475" y="1094450"/>
          <a:ext cx="8379050" cy="3546071"/>
        </p:xfrm>
        <a:graphic>
          <a:graphicData uri="http://schemas.openxmlformats.org/drawingml/2006/table">
            <a:tbl>
              <a:tblPr>
                <a:noFill/>
                <a:tableStyleId>{D45F542E-D5B4-4AFA-8CB1-8A334B1FCBFD}</a:tableStyleId>
              </a:tblPr>
              <a:tblGrid>
                <a:gridCol w="172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94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Research Area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Existing Status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Gap Identified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/>
                        <a:t>Your Contribution</a:t>
                      </a:r>
                      <a:endParaRPr sz="1300" b="1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HIV-specific chest X-ray data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Very limited datasets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Poor performance for HIV cases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 HIV-focused model using augmented or mixed datasets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Opportunistic infection detection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AI confuses TB vs Pneumonia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Atypical patterns in HIV not studied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Multi-class classifier tuned for HIV OIs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Clinical + image integration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Rarely used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Clinical fusion benefits unexplored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Combine CD4, viral load with CNN output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Generalizability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Poor across devices/hospitals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No framework for diverse data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Domain adaptation + normalization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Explainability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GradCAM not validated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Clinicians don’t trust AI outputs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HIV-specific explainability layer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4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Deployment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Almost no mobile/web systems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Lack of real-world applicability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Create actual working application</a:t>
                      </a:r>
                      <a:endParaRPr sz="11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3" name="Google Shape;143;p10"/>
          <p:cNvSpPr txBox="1"/>
          <p:nvPr/>
        </p:nvSpPr>
        <p:spPr>
          <a:xfrm>
            <a:off x="1021525" y="555575"/>
            <a:ext cx="5161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49" name="Google Shape;149;p11"/>
          <p:cNvSpPr txBox="1"/>
          <p:nvPr/>
        </p:nvSpPr>
        <p:spPr>
          <a:xfrm>
            <a:off x="498250" y="913250"/>
            <a:ext cx="7981200" cy="3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Evaluate / Prove Success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2C2F3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/>
              <a:t>Model metrics: </a:t>
            </a:r>
            <a:r>
              <a:rPr lang="en-US" sz="1200" b="1"/>
              <a:t>Accuracy, Precision, Recall, F1, ROC-AUC</a:t>
            </a:r>
            <a:endParaRPr sz="1200" b="1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Confusion Matrix</a:t>
            </a:r>
            <a:r>
              <a:rPr lang="en-US" sz="1200"/>
              <a:t> for error analysis</a:t>
            </a:r>
            <a:endParaRPr sz="12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GradCAM heatmap validation</a:t>
            </a:r>
            <a:r>
              <a:rPr lang="en-US" sz="1200"/>
              <a:t> for explainability</a:t>
            </a:r>
            <a:endParaRPr sz="1200"/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/>
              <a:t>System tests: </a:t>
            </a:r>
            <a:r>
              <a:rPr lang="en-US" sz="1200" b="1"/>
              <a:t>speed</a:t>
            </a:r>
            <a:r>
              <a:rPr lang="en-US" sz="1200"/>
              <a:t>, </a:t>
            </a:r>
            <a:r>
              <a:rPr lang="en-US" sz="1200" b="1"/>
              <a:t>usability (SUS score)</a:t>
            </a:r>
            <a:r>
              <a:rPr lang="en-US" sz="1200"/>
              <a:t>, and </a:t>
            </a:r>
            <a:r>
              <a:rPr lang="en-US" sz="1200" b="1"/>
              <a:t>integration stability</a:t>
            </a:r>
            <a:endParaRPr sz="15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1D1F2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2C2F3C"/>
                </a:solidFill>
                <a:latin typeface="Arial"/>
                <a:ea typeface="Arial"/>
                <a:cs typeface="Arial"/>
                <a:sym typeface="Arial"/>
              </a:rPr>
              <a:t>Data Availability &amp; Ethical Clearance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Uses </a:t>
            </a:r>
            <a:r>
              <a:rPr lang="en-US" sz="1200" b="1"/>
              <a:t>public, de-identified datasets</a:t>
            </a:r>
            <a:r>
              <a:rPr lang="en-US" sz="1200"/>
              <a:t> (NIH, Montgomery, Shenzhen, UCI ACTG)</a:t>
            </a:r>
            <a:endParaRPr sz="1200"/>
          </a:p>
          <a:p>
            <a:pPr marL="914400" lvl="1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No personal patient data → </a:t>
            </a:r>
            <a:r>
              <a:rPr lang="en-US" sz="1200" b="1"/>
              <a:t>no ethical approval needed</a:t>
            </a:r>
            <a:endParaRPr sz="1200" b="1"/>
          </a:p>
          <a:p>
            <a:pPr marL="914400" lvl="1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 sz="1200"/>
              <a:t>Research-only tool with </a:t>
            </a:r>
            <a:r>
              <a:rPr lang="en-US" sz="1200" b="1"/>
              <a:t>secure data handling</a:t>
            </a:r>
            <a:r>
              <a:rPr lang="en-US" sz="1200"/>
              <a:t> and </a:t>
            </a:r>
            <a:r>
              <a:rPr lang="en-US" sz="1200" b="1"/>
              <a:t>privacy protection</a:t>
            </a:r>
            <a:br>
              <a:rPr lang="en-US" sz="1100" b="1"/>
            </a:br>
            <a:endParaRPr sz="1400" b="0" i="0" u="none" strike="noStrike" cap="none">
              <a:solidFill>
                <a:srgbClr val="1D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2588208" y="4812923"/>
            <a:ext cx="4343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IT22907066 | Rupasinghe R.A.D.N | 25-26J-147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1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1953000" y="330525"/>
            <a:ext cx="523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Deep Learning X-ray Model for HIV-related Lung Infection Detection</a:t>
            </a: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title"/>
          </p:nvPr>
        </p:nvSpPr>
        <p:spPr>
          <a:xfrm>
            <a:off x="457199" y="267327"/>
            <a:ext cx="3342807" cy="4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System Diagram</a:t>
            </a:r>
            <a:endParaRPr/>
          </a:p>
        </p:txBody>
      </p:sp>
      <p:sp>
        <p:nvSpPr>
          <p:cNvPr id="159" name="Google Shape;159;p12"/>
          <p:cNvSpPr txBox="1"/>
          <p:nvPr/>
        </p:nvSpPr>
        <p:spPr>
          <a:xfrm>
            <a:off x="2588208" y="4805303"/>
            <a:ext cx="43437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IT22907066 | Rupasinghe R.A.D.N | 25-26J-147</a:t>
            </a:r>
            <a:endParaRPr/>
          </a:p>
        </p:txBody>
      </p:sp>
      <p:sp>
        <p:nvSpPr>
          <p:cNvPr id="160" name="Google Shape;160;p12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2" title="ChatGPT Image Nov 19, 2025, 01_57_46 AM.png"/>
          <p:cNvPicPr preferRelativeResize="0"/>
          <p:nvPr/>
        </p:nvPicPr>
        <p:blipFill rotWithShape="1">
          <a:blip r:embed="rId3">
            <a:alphaModFix/>
          </a:blip>
          <a:srcRect t="11126"/>
          <a:stretch/>
        </p:blipFill>
        <p:spPr>
          <a:xfrm>
            <a:off x="1719138" y="881513"/>
            <a:ext cx="5705725" cy="33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>
            <a:spLocks noGrp="1"/>
          </p:cNvSpPr>
          <p:nvPr>
            <p:ph type="title"/>
          </p:nvPr>
        </p:nvSpPr>
        <p:spPr>
          <a:xfrm>
            <a:off x="347838" y="682920"/>
            <a:ext cx="7003200" cy="19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HIV Risk Identification and Personalized Intervention Sequencing for Risk Reduction</a:t>
            </a:r>
            <a:endParaRPr sz="3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</a:pPr>
            <a:endParaRPr sz="3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68" name="Google Shape;168;p13"/>
          <p:cNvSpPr txBox="1"/>
          <p:nvPr/>
        </p:nvSpPr>
        <p:spPr>
          <a:xfrm>
            <a:off x="347849" y="3014435"/>
            <a:ext cx="511084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IT22585530 – Thrimanna A.</a:t>
            </a:r>
            <a:endParaRPr sz="22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Specialization : Data Science</a:t>
            </a: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3" descr="A person smiling in front of a christmas tre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1444" y="293507"/>
            <a:ext cx="1527959" cy="15627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3"/>
          <p:cNvCxnSpPr/>
          <p:nvPr/>
        </p:nvCxnSpPr>
        <p:spPr>
          <a:xfrm rot="10800000" flipH="1">
            <a:off x="347516" y="2586430"/>
            <a:ext cx="6831035" cy="34636"/>
          </a:xfrm>
          <a:prstGeom prst="straightConnector1">
            <a:avLst/>
          </a:prstGeom>
          <a:noFill/>
          <a:ln w="57150" cap="flat" cmpd="sng">
            <a:solidFill>
              <a:srgbClr val="373C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1" name="Google Shape;171;p13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11/19/2025</a:t>
            </a:r>
            <a:endParaRPr sz="1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"/>
          <p:cNvSpPr txBox="1">
            <a:spLocks noGrp="1"/>
          </p:cNvSpPr>
          <p:nvPr>
            <p:ph type="title"/>
          </p:nvPr>
        </p:nvSpPr>
        <p:spPr>
          <a:xfrm>
            <a:off x="502943" y="93980"/>
            <a:ext cx="8637000" cy="2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HIV Risk Identification and Personalized Intervention Sequencing for Risk Reduction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</a:pPr>
            <a:endParaRPr sz="1600"/>
          </a:p>
        </p:txBody>
      </p:sp>
      <p:sp>
        <p:nvSpPr>
          <p:cNvPr id="177" name="Google Shape;177;p1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78" name="Google Shape;178;p14"/>
          <p:cNvSpPr txBox="1"/>
          <p:nvPr/>
        </p:nvSpPr>
        <p:spPr>
          <a:xfrm>
            <a:off x="84693" y="353193"/>
            <a:ext cx="593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Knowledge Gap or Problem Definition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169719" y="3044210"/>
            <a:ext cx="429317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Shortcomings and Proposed Solution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 txBox="1"/>
          <p:nvPr/>
        </p:nvSpPr>
        <p:spPr>
          <a:xfrm>
            <a:off x="259222" y="3298309"/>
            <a:ext cx="8619900" cy="21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Current Shortcomings:</a:t>
            </a:r>
            <a:endParaRPr sz="13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🚫 Traditional -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Detect some risky behaviors with generic recommendation -  But no real priority ordering recommendation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🚫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No personalized, time phased plan delivered in the person’s own language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Proposed Solution:</a:t>
            </a:r>
            <a:endParaRPr sz="13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✅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Detects exact </a:t>
            </a: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risky behaviors f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each person</a:t>
            </a:r>
            <a:endParaRPr sz="13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✅ </a:t>
            </a: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Prioritized sequence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recommendations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 ✅ </a:t>
            </a: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Time-phased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 plan in the </a:t>
            </a:r>
            <a:r>
              <a:rPr lang="en-US" sz="1300" b="1">
                <a:latin typeface="Calibri"/>
                <a:ea typeface="Calibri"/>
                <a:cs typeface="Calibri"/>
                <a:sym typeface="Calibri"/>
              </a:rPr>
              <a:t>person’s own language</a:t>
            </a:r>
            <a:endParaRPr sz="1300" b="1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1" name="Google Shape;181;p14"/>
          <p:cNvGraphicFramePr/>
          <p:nvPr/>
        </p:nvGraphicFramePr>
        <p:xfrm>
          <a:off x="356292" y="679272"/>
          <a:ext cx="3000000" cy="3000000"/>
        </p:xfrm>
        <a:graphic>
          <a:graphicData uri="http://schemas.openxmlformats.org/drawingml/2006/table">
            <a:tbl>
              <a:tblPr lastRow="1" bandRow="1">
                <a:noFill/>
                <a:tableStyleId>{485BA321-6FB2-46CA-B99F-390929C9BC27}</a:tableStyleId>
              </a:tblPr>
              <a:tblGrid>
                <a:gridCol w="193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7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Research</a:t>
                      </a:r>
                      <a:endParaRPr/>
                    </a:p>
                  </a:txBody>
                  <a:tcPr marL="0" marR="0" marT="0" marB="0" anchor="ctr">
                    <a:solidFill>
                      <a:srgbClr val="C5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3A3F50"/>
                          </a:solidFill>
                        </a:rPr>
                        <a:t>Automated Detection of Individual’s  Risky Behaviors </a:t>
                      </a:r>
                      <a:endParaRPr sz="1100" b="1">
                        <a:solidFill>
                          <a:srgbClr val="3A3F50"/>
                        </a:solidFill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rgbClr val="3A3F50"/>
                          </a:solidFill>
                        </a:rPr>
                        <a:t>(from raw columns)</a:t>
                      </a:r>
                      <a:endParaRPr sz="1100" b="1">
                        <a:solidFill>
                          <a:srgbClr val="08080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C5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3A3F50"/>
                          </a:solidFill>
                        </a:rPr>
                        <a:t>Personalized Behavioral Intervention Sequencing &amp; Priority Weighting </a:t>
                      </a:r>
                      <a:r>
                        <a:rPr lang="en-US" sz="1100" b="1">
                          <a:solidFill>
                            <a:srgbClr val="3A3F50"/>
                          </a:solidFill>
                        </a:rPr>
                        <a:t>(Ordered &amp; Prioritized Personal Recommendations)</a:t>
                      </a:r>
                      <a:endParaRPr sz="1100" b="1">
                        <a:solidFill>
                          <a:srgbClr val="08080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rgbClr val="C5F4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200" b="1">
                          <a:solidFill>
                            <a:srgbClr val="080808"/>
                          </a:solidFill>
                        </a:rPr>
                        <a:t>Time-Phased Implementation Roadmap (Week 1– Phase 1: 3 actions; Phase 2: Weeks 5–12)</a:t>
                      </a:r>
                      <a:endParaRPr sz="1200" b="1">
                        <a:solidFill>
                          <a:srgbClr val="080808"/>
                        </a:solidFill>
                      </a:endParaRPr>
                    </a:p>
                  </a:txBody>
                  <a:tcPr marL="0" marR="0" marT="0" marB="0" anchor="ctr">
                    <a:solidFill>
                      <a:srgbClr val="C5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ML Risk -Prediction[2]</a:t>
                      </a:r>
                      <a:endParaRPr sz="1300" b="1" u="none" strike="noStrike" cap="none">
                        <a:solidFill>
                          <a:srgbClr val="08080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300" b="1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300" b="1">
                        <a:solidFill>
                          <a:srgbClr val="08080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 sz="1300" b="1" u="none" strike="noStrike" cap="none">
                        <a:solidFill>
                          <a:srgbClr val="08080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MyPEEPS Mobile App</a:t>
                      </a:r>
                      <a:r>
                        <a:rPr lang="en-US" sz="1300" b="1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</a:t>
                      </a: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lang="en-US" sz="1300" b="1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]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r>
                        <a:rPr lang="en-US" sz="13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(partial - tailored modules)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MyChoices PrEP/HIV [4]</a:t>
                      </a:r>
                      <a:endParaRPr sz="1300" b="1">
                        <a:solidFill>
                          <a:srgbClr val="08080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❌(recommends frequency)</a:t>
                      </a:r>
                      <a:endParaRPr sz="1300" b="1">
                        <a:solidFill>
                          <a:schemeClr val="accent6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7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CDC HIV Risk Reduction [5]</a:t>
                      </a:r>
                      <a:endParaRPr sz="1300" b="1">
                        <a:solidFill>
                          <a:srgbClr val="080808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r>
                        <a:rPr lang="en-US" sz="1300" b="1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❌(generic tips)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</a:t>
                      </a:r>
                      <a:endParaRPr/>
                    </a:p>
                  </a:txBody>
                  <a:tcPr marL="0" marR="0" marT="0" marB="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5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   Our Research</a:t>
                      </a: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1" u="none" strike="noStrike" cap="none">
                          <a:solidFill>
                            <a:schemeClr val="accent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✔</a:t>
                      </a:r>
                      <a:endParaRPr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2" name="Google Shape;182;p14"/>
          <p:cNvSpPr txBox="1"/>
          <p:nvPr/>
        </p:nvSpPr>
        <p:spPr>
          <a:xfrm>
            <a:off x="3969660" y="4763074"/>
            <a:ext cx="594553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IT22585530 | Thrimanna A. | 25-26J-147              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395538" y="132348"/>
            <a:ext cx="8413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latin typeface="Calibri"/>
                <a:ea typeface="Calibri"/>
                <a:cs typeface="Calibri"/>
                <a:sym typeface="Calibri"/>
              </a:rPr>
              <a:t>HIV Risk Identification and Personalized Intervention Sequencing for Risk Reduction</a:t>
            </a:r>
            <a:endParaRPr sz="1600"/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3A3F50"/>
                </a:solidFill>
                <a:latin typeface="Raleway Thin"/>
                <a:ea typeface="Raleway Thin"/>
                <a:cs typeface="Raleway Thin"/>
                <a:sym typeface="Raleway Thin"/>
              </a:rPr>
              <a:t>​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398545" y="1218197"/>
            <a:ext cx="5948111" cy="548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312822" y="673769"/>
            <a:ext cx="849579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  Key Domains of Specialization-based Knowledge Utilized to Fabricate the Solution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395204" y="1039395"/>
            <a:ext cx="8725500" cy="16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D86E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Science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Analyzed 18,000+ records to extract behavioral risk features for HIV risk prediction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D86E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(Machine Learning)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Built a model to generate personalized HIV risk scores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D86E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Natural Language Processing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Generated multilingual, user-friendly guidance using an LLM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86E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Explainable AI: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For clear explanations showing which behaviors influence each person’s score(SHAP method))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D86ECC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Software Engineering: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Developed an interactive web application for real-time risk assessment and planning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354303" y="2382912"/>
            <a:ext cx="8495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Specific Latest Technology/Technologies in that Domain are Utilized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5"/>
          <p:cNvSpPr txBox="1"/>
          <p:nvPr/>
        </p:nvSpPr>
        <p:spPr>
          <a:xfrm>
            <a:off x="458703" y="2787554"/>
            <a:ext cx="77454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ED97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HIV risk classification and predictive modeling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ED97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SHAP - 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Identifying individual-level behavioral risk factors</a:t>
            </a:r>
            <a:endParaRPr sz="1400" i="0" u="none" strike="noStrike" cap="none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ED97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Streamlit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dashboard development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ED97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Programming language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ED97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 sz="1100" b="1"/>
              <a:t>Gemini-2.5-Flash API -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Multilingual translation  </a:t>
            </a:r>
            <a:endParaRPr sz="1100" b="1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ED97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Google Colab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- GPU environment for model training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8ED973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Version Control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5"/>
          <p:cNvSpPr txBox="1"/>
          <p:nvPr/>
        </p:nvSpPr>
        <p:spPr>
          <a:xfrm>
            <a:off x="4038099" y="4752474"/>
            <a:ext cx="579771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IT22585530 | Thrimanna A. | 25-26J-147              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19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>
            <a:spLocks noGrp="1"/>
          </p:cNvSpPr>
          <p:nvPr>
            <p:ph type="title"/>
          </p:nvPr>
        </p:nvSpPr>
        <p:spPr>
          <a:xfrm>
            <a:off x="457200" y="-3499"/>
            <a:ext cx="8363044" cy="46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HIV Risk Identification and Personalized Intervention Sequencing for Risk Reduction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800"/>
              <a:buNone/>
            </a:pPr>
            <a:endParaRPr>
              <a:solidFill>
                <a:srgbClr val="3A3F5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/>
          </a:p>
        </p:txBody>
      </p:sp>
      <p:sp>
        <p:nvSpPr>
          <p:cNvPr id="200" name="Google Shape;200;p1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01" name="Google Shape;201;p16"/>
          <p:cNvSpPr/>
          <p:nvPr/>
        </p:nvSpPr>
        <p:spPr>
          <a:xfrm>
            <a:off x="5601543" y="2517842"/>
            <a:ext cx="3354600" cy="2213700"/>
          </a:xfrm>
          <a:prstGeom prst="roundRect">
            <a:avLst>
              <a:gd name="adj" fmla="val 16667"/>
            </a:avLst>
          </a:prstGeom>
          <a:solidFill>
            <a:srgbClr val="CBCDE0"/>
          </a:solidFill>
          <a:ln w="25400" cap="flat" cmpd="sng">
            <a:solidFill>
              <a:srgbClr val="004C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6"/>
          <p:cNvSpPr txBox="1"/>
          <p:nvPr/>
        </p:nvSpPr>
        <p:spPr>
          <a:xfrm>
            <a:off x="5895874" y="2508508"/>
            <a:ext cx="33735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Data Availability and Ethical Clearance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5760743" y="2782208"/>
            <a:ext cx="30471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Primary Data </a:t>
            </a:r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Source</a:t>
            </a:r>
            <a:r>
              <a:rPr lang="en-US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>
                <a:solidFill>
                  <a:schemeClr val="accent4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CDC Youth Risk Behavior Survey (YRBS)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solidFill>
                  <a:schemeClr val="accent4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⮚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YRBS Data Summary &amp; Trends Report</a:t>
            </a:r>
            <a:b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13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Ethical Clearance – </a:t>
            </a:r>
            <a:br>
              <a:rPr lang="en-US" sz="13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Data handled with strict confidentiality following CDC public health research guidelines.</a:t>
            </a:r>
            <a:br>
              <a:rPr lang="en-US" sz="1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233111" y="233111"/>
            <a:ext cx="282742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Evaluation Methods</a:t>
            </a:r>
            <a:endParaRPr sz="14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205678" y="564397"/>
            <a:ext cx="8696700" cy="1815900"/>
          </a:xfrm>
          <a:prstGeom prst="roundRect">
            <a:avLst>
              <a:gd name="adj" fmla="val 16667"/>
            </a:avLst>
          </a:prstGeom>
          <a:solidFill>
            <a:srgbClr val="E2E3E7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Model Performance Testing</a:t>
            </a:r>
            <a:r>
              <a:rPr lang="en-US" sz="1300" b="0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Validate HIV risk predictions against CDC historical data </a:t>
            </a:r>
            <a:b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Personalization Accuracy Verification</a:t>
            </a:r>
            <a:r>
              <a:rPr lang="en-US" sz="1300" b="0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Confirm different users receive appropriately sequenced intervention plans</a:t>
            </a:r>
            <a:b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 b="0" i="0" u="none" strike="noStrike" cap="none">
              <a:solidFill>
                <a:srgbClr val="08080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Multilingual Output Quality </a:t>
            </a:r>
            <a:r>
              <a:rPr lang="en-US" sz="1300" b="1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r>
              <a:rPr lang="en-US" sz="1300" b="0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Assess accuracy across all language outputs.</a:t>
            </a:r>
            <a:b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System Integration Tests</a:t>
            </a:r>
            <a:r>
              <a:rPr lang="en-US" sz="1300" b="0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Verify end-to-end functionality from dataset to automated roadmap generation</a:t>
            </a:r>
            <a:endParaRPr sz="1300" b="0" i="0" u="none" strike="noStrike" cap="none">
              <a:solidFill>
                <a:srgbClr val="08080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 txBox="1"/>
          <p:nvPr/>
        </p:nvSpPr>
        <p:spPr>
          <a:xfrm>
            <a:off x="5955631" y="503822"/>
            <a:ext cx="2857500" cy="338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4230633" y="4839871"/>
            <a:ext cx="617611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IT22585530 | Thrimanna A. | 25-26J-147              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167126" y="2568200"/>
            <a:ext cx="5139900" cy="2128200"/>
          </a:xfrm>
          <a:prstGeom prst="roundRect">
            <a:avLst>
              <a:gd name="adj" fmla="val 16667"/>
            </a:avLst>
          </a:prstGeom>
          <a:solidFill>
            <a:srgbClr val="D2D5E0"/>
          </a:solidFill>
          <a:ln w="25400" cap="flat" cmpd="sng">
            <a:solidFill>
              <a:srgbClr val="004C5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294972" y="2538833"/>
            <a:ext cx="254167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Expected Accuracy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375986" y="2970296"/>
            <a:ext cx="3436519" cy="834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296675" y="3963609"/>
            <a:ext cx="336940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Metrics</a:t>
            </a:r>
            <a:br>
              <a:rPr lang="en-US" sz="18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0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Models - Precision, recall, and F1-score </a:t>
            </a:r>
            <a:endParaRPr sz="1300" b="0" i="0" u="none" strike="noStrike" cap="none">
              <a:solidFill>
                <a:srgbClr val="08080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User Experience </a:t>
            </a:r>
            <a:r>
              <a:rPr lang="en-US" sz="1300" b="0" i="0" u="none" strike="noStrike" cap="none">
                <a:solidFill>
                  <a:srgbClr val="080808"/>
                </a:solidFill>
                <a:latin typeface="Calibri"/>
                <a:ea typeface="Calibri"/>
                <a:cs typeface="Calibri"/>
                <a:sym typeface="Calibri"/>
              </a:rPr>
              <a:t>- Usability Surveys</a:t>
            </a:r>
            <a:endParaRPr sz="1300" b="0" i="0" u="none" strike="noStrike" cap="none">
              <a:solidFill>
                <a:srgbClr val="08080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16"/>
          <p:cNvGraphicFramePr/>
          <p:nvPr/>
        </p:nvGraphicFramePr>
        <p:xfrm>
          <a:off x="372661" y="2846631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{AA2A500F-2508-426F-ACCE-907477A66544}</a:tableStyleId>
              </a:tblPr>
              <a:tblGrid>
                <a:gridCol w="260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8080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Key Performance Indicator </a:t>
                      </a:r>
                      <a:endParaRPr sz="1200" b="1" u="none" strike="noStrike" cap="none">
                        <a:solidFill>
                          <a:srgbClr val="080808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CAF0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8080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Project Goal</a:t>
                      </a:r>
                      <a:endParaRPr sz="1200" b="1" u="none" strike="noStrike" cap="none">
                        <a:solidFill>
                          <a:srgbClr val="080808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C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Risk Prediction Accuracy</a:t>
                      </a:r>
                      <a:endParaRPr sz="1300" u="none" strike="noStrike" cap="none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90%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2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Personalization Relevance</a:t>
                      </a:r>
                      <a:endParaRPr sz="1300" u="none" strike="noStrike" cap="none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90%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5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Multilingual Output Quality</a:t>
                      </a:r>
                      <a:endParaRPr sz="1300" u="none" strike="noStrike" cap="none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US" sz="1300" b="0" i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 90%</a:t>
                      </a:r>
                      <a:endParaRPr sz="13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>
            <a:spLocks noGrp="1"/>
          </p:cNvSpPr>
          <p:nvPr>
            <p:ph type="title"/>
          </p:nvPr>
        </p:nvSpPr>
        <p:spPr>
          <a:xfrm>
            <a:off x="457200" y="616383"/>
            <a:ext cx="3843893" cy="4021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3726950" y="0"/>
            <a:ext cx="5635500" cy="6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>
                <a:latin typeface="Calibri"/>
                <a:ea typeface="Calibri"/>
                <a:cs typeface="Calibri"/>
                <a:sym typeface="Calibri"/>
              </a:rPr>
              <a:t>HIV Risk Identification and Personalized Intervention Sequencing for Risk Reduction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7"/>
          <p:cNvSpPr txBox="1"/>
          <p:nvPr/>
        </p:nvSpPr>
        <p:spPr>
          <a:xfrm>
            <a:off x="4052002" y="4725516"/>
            <a:ext cx="5662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IT22585530 | Thrimanna A. | 25-26J-147              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/1</a:t>
            </a:r>
            <a:r>
              <a:rPr lang="en-US" b="1"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/2025</a:t>
            </a:r>
            <a:endParaRPr sz="1400" b="0" i="0" u="none" strike="noStrike" cap="none">
              <a:solidFill>
                <a:srgbClr val="3A3F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3A3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7"/>
          <p:cNvSpPr txBox="1"/>
          <p:nvPr/>
        </p:nvSpPr>
        <p:spPr>
          <a:xfrm>
            <a:off x="4154511" y="335687"/>
            <a:ext cx="5274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System Overview and How to Use It in a Real-World Scenario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7"/>
          <p:cNvSpPr txBox="1"/>
          <p:nvPr/>
        </p:nvSpPr>
        <p:spPr>
          <a:xfrm>
            <a:off x="3831025" y="733113"/>
            <a:ext cx="5274900" cy="3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Step 1: </a:t>
            </a:r>
            <a:r>
              <a:rPr lang="en-US" b="1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Enter User Data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user fills in behavior-related information in the web application</a:t>
            </a: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Step 2: </a:t>
            </a:r>
            <a:r>
              <a:rPr lang="en-US" b="1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View Risk Score and Factors</a:t>
            </a:r>
            <a:endParaRPr b="1">
              <a:solidFill>
                <a:srgbClr val="0B76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system analyses the data, predicts the individual’s HIV risk level, and lists the specific behaviors contributing to that risk.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Step 3: </a:t>
            </a:r>
            <a:r>
              <a:rPr lang="en-US" b="1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Receive Personalized Action Plan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user is given a prioritized week intervention plan 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 b="1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Step 4: Deliver Guidance in Preferred Language</a:t>
            </a:r>
            <a:endParaRPr b="1">
              <a:solidFill>
                <a:srgbClr val="0B76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The plan is translated into the user’s chosen language.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1" i="0" u="none" strike="noStrike" cap="none">
                <a:solidFill>
                  <a:srgbClr val="0B76A0"/>
                </a:solidFill>
                <a:latin typeface="Calibri"/>
                <a:ea typeface="Calibri"/>
                <a:cs typeface="Calibri"/>
                <a:sym typeface="Calibri"/>
              </a:rPr>
              <a:t>Benefit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Improves early HIV risk detection, 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Guidance for each individual with more effectively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17" title="System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244" y="-2200"/>
            <a:ext cx="303371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8"/>
          <p:cNvSpPr txBox="1">
            <a:spLocks noGrp="1"/>
          </p:cNvSpPr>
          <p:nvPr>
            <p:ph type="subTitle" idx="4294967295"/>
          </p:nvPr>
        </p:nvSpPr>
        <p:spPr>
          <a:xfrm>
            <a:off x="330198" y="3002099"/>
            <a:ext cx="5577118" cy="826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None/>
            </a:pPr>
            <a:r>
              <a:rPr lang="en-US" sz="2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IT22577610 – Jayarathna J. V. D </a:t>
            </a:r>
            <a:endParaRPr sz="2000" b="0" i="0" u="none" strike="noStrike" cap="none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Specialization : Data Science</a:t>
            </a:r>
            <a:endParaRPr/>
          </a:p>
          <a:p>
            <a:pPr marL="0" marR="0" lvl="0" indent="0" algn="ctr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6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2588208" y="4812923"/>
            <a:ext cx="4343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IT22577610 | Jayarathna J.V.D | 25-26J-147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8"/>
          <p:cNvSpPr txBox="1"/>
          <p:nvPr/>
        </p:nvSpPr>
        <p:spPr>
          <a:xfrm>
            <a:off x="330200" y="1407375"/>
            <a:ext cx="6472800" cy="12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None/>
            </a:pPr>
            <a:r>
              <a:rPr lang="en-US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Treatment Optimization and Adherence Prediction for HIV Patients</a:t>
            </a:r>
            <a:endParaRPr sz="36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1" name="Google Shape;231;p18"/>
          <p:cNvCxnSpPr/>
          <p:nvPr/>
        </p:nvCxnSpPr>
        <p:spPr>
          <a:xfrm>
            <a:off x="330198" y="2837543"/>
            <a:ext cx="6302831" cy="0"/>
          </a:xfrm>
          <a:prstGeom prst="straightConnector1">
            <a:avLst/>
          </a:prstGeom>
          <a:noFill/>
          <a:ln w="57150" cap="flat" cmpd="sng">
            <a:solidFill>
              <a:srgbClr val="373C4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32" name="Google Shape;232;p18" descr="A person taking a selfie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2161" y="281835"/>
            <a:ext cx="1338720" cy="135437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8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348350" y="260350"/>
            <a:ext cx="72498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Treatment Optimization and Adherence Prediction for HIV Patients</a:t>
            </a:r>
            <a:endParaRPr sz="2000" b="0" i="0" u="none" strike="noStrike" cap="non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348350" y="851799"/>
            <a:ext cx="8438700" cy="37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2C2F3C"/>
                </a:solidFill>
                <a:latin typeface="Arial"/>
                <a:ea typeface="Arial"/>
                <a:cs typeface="Arial"/>
                <a:sym typeface="Arial"/>
              </a:rPr>
              <a:t>Knowledge Gap / Problem Definition</a:t>
            </a:r>
            <a:endParaRPr sz="1800" b="1" i="0" u="none" strike="noStrike" cap="none">
              <a:solidFill>
                <a:srgbClr val="2C2F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/>
              <a:t>Existing research predicts treatment failure or LTFU, </a:t>
            </a:r>
            <a:r>
              <a:rPr lang="en-US" sz="1200" b="1"/>
              <a:t>not early adherence</a:t>
            </a:r>
            <a:r>
              <a:rPr lang="en-US" sz="1200"/>
              <a:t>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/>
              <a:t>Models are often </a:t>
            </a:r>
            <a:r>
              <a:rPr lang="en-US" sz="1200" b="1"/>
              <a:t>not explainable</a:t>
            </a:r>
            <a:r>
              <a:rPr lang="en-US" sz="1200"/>
              <a:t> to healthcare staff.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/>
              <a:t>No clear </a:t>
            </a:r>
            <a:r>
              <a:rPr lang="en-US" sz="1200" b="1"/>
              <a:t>recommendations or treatment optimization</a:t>
            </a:r>
            <a:r>
              <a:rPr lang="en-US" sz="1200"/>
              <a:t> after prediction.</a:t>
            </a:r>
            <a:endParaRPr sz="150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2C2F3C"/>
                </a:solidFill>
                <a:latin typeface="Arial"/>
                <a:ea typeface="Arial"/>
                <a:cs typeface="Arial"/>
                <a:sym typeface="Arial"/>
              </a:rPr>
              <a:t>Shortcomings of Existing Systems</a:t>
            </a:r>
            <a:endParaRPr/>
          </a:p>
          <a:p>
            <a:pPr marL="742950" marR="0" lvl="3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Focus only on </a:t>
            </a:r>
            <a:r>
              <a:rPr lang="en-US" sz="1200" b="1"/>
              <a:t>outcomes</a:t>
            </a:r>
            <a:r>
              <a:rPr lang="en-US" sz="1200"/>
              <a:t> (failure, dropout) → too late for intervention.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3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 b="1"/>
              <a:t>Black-box models</a:t>
            </a:r>
            <a:r>
              <a:rPr lang="en-US" sz="1200"/>
              <a:t> make clinicians mistrust results.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3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Limited </a:t>
            </a:r>
            <a:r>
              <a:rPr lang="en-US" sz="1200" b="1"/>
              <a:t>generalizability</a:t>
            </a:r>
            <a:r>
              <a:rPr lang="en-US" sz="1200"/>
              <a:t> across clinics/regions.</a:t>
            </a:r>
            <a:endParaRPr sz="1200"/>
          </a:p>
          <a:p>
            <a:pPr marL="742950" marR="0" lvl="3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No </a:t>
            </a:r>
            <a:r>
              <a:rPr lang="en-US" sz="1200" b="1"/>
              <a:t>simple dashboard or tool</a:t>
            </a:r>
            <a:r>
              <a:rPr lang="en-US" sz="1200"/>
              <a:t> to support real decision-making.</a:t>
            </a:r>
            <a:endParaRPr sz="1200"/>
          </a:p>
          <a:p>
            <a:pPr marL="5461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2C2F3C"/>
                </a:solidFill>
                <a:latin typeface="Arial"/>
                <a:ea typeface="Arial"/>
                <a:cs typeface="Arial"/>
                <a:sym typeface="Arial"/>
              </a:rPr>
              <a:t>Proven Gap / Creative Solution</a:t>
            </a:r>
            <a:endParaRPr/>
          </a:p>
          <a:p>
            <a:pPr marL="742950" marR="0" lvl="1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Build </a:t>
            </a:r>
            <a:r>
              <a:rPr lang="en-US" sz="1200" b="1"/>
              <a:t>early adherence prediction model</a:t>
            </a:r>
            <a:r>
              <a:rPr lang="en-US" sz="1200"/>
              <a:t> (before interruption happens).</a:t>
            </a:r>
            <a:endParaRPr sz="1200" b="0" i="0" u="none" strike="noStrike" cap="none">
              <a:solidFill>
                <a:srgbClr val="3A3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Provide </a:t>
            </a:r>
            <a:r>
              <a:rPr lang="en-US" sz="1200" b="1"/>
              <a:t>interpretable insights</a:t>
            </a:r>
            <a:r>
              <a:rPr lang="en-US" sz="1200"/>
              <a:t> (SHAP, feature importance).</a:t>
            </a:r>
            <a:endParaRPr sz="1200" b="0" i="0" u="none" strike="noStrike" cap="none">
              <a:solidFill>
                <a:srgbClr val="3A3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lang="en-US" sz="1200"/>
              <a:t>Add </a:t>
            </a:r>
            <a:r>
              <a:rPr lang="en-US" sz="1200" b="1"/>
              <a:t>actionable recommendations</a:t>
            </a:r>
            <a:r>
              <a:rPr lang="en-US" sz="1200"/>
              <a:t> for treatment optimization.</a:t>
            </a:r>
            <a:endParaRPr sz="1200"/>
          </a:p>
          <a:p>
            <a:pPr marL="742950" marR="0" lvl="1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Ensure </a:t>
            </a:r>
            <a:r>
              <a:rPr lang="en-US" sz="1200" b="1"/>
              <a:t>fairness and generalizability</a:t>
            </a:r>
            <a:r>
              <a:rPr lang="en-US" sz="1200"/>
              <a:t> by testing across subgroups.</a:t>
            </a:r>
            <a:endParaRPr sz="1200"/>
          </a:p>
          <a:p>
            <a:pPr marL="742950" marR="0" lvl="1" indent="-273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/>
              <a:t>Deliver a </a:t>
            </a:r>
            <a:r>
              <a:rPr lang="en-US" sz="1200" b="1"/>
              <a:t>lightweight, easy-to-use decision-support system</a:t>
            </a:r>
            <a:r>
              <a:rPr lang="en-US" sz="1200"/>
              <a:t>.</a:t>
            </a:r>
            <a:endParaRPr sz="1200"/>
          </a:p>
        </p:txBody>
      </p:sp>
      <p:sp>
        <p:nvSpPr>
          <p:cNvPr id="241" name="Google Shape;241;p19"/>
          <p:cNvSpPr txBox="1"/>
          <p:nvPr/>
        </p:nvSpPr>
        <p:spPr>
          <a:xfrm>
            <a:off x="2400318" y="4805094"/>
            <a:ext cx="4343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IT22577610 | Jayarathna J.V.D | 25-26J-147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19" descr="A magnifying glass on a piece of pap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4110" y="125548"/>
            <a:ext cx="1551704" cy="9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9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348341" y="270285"/>
            <a:ext cx="7249732" cy="45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Treatment Optimization and Adherence Prediction for HIV Patients</a:t>
            </a:r>
            <a:endParaRPr sz="2000">
              <a:solidFill>
                <a:srgbClr val="002060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2400318" y="4805094"/>
            <a:ext cx="4343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IT22577610 | Jayarathna J.V.D | 25-26J-147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0" descr="A magnifying glass on a piece of pap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24110" y="125548"/>
            <a:ext cx="1551704" cy="92717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>
            <a:spLocks noGrp="1"/>
          </p:cNvSpPr>
          <p:nvPr>
            <p:ph type="title"/>
          </p:nvPr>
        </p:nvSpPr>
        <p:spPr>
          <a:xfrm>
            <a:off x="611115" y="859027"/>
            <a:ext cx="3342807" cy="4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11131D"/>
                </a:solidFill>
                <a:latin typeface="Calibri"/>
                <a:ea typeface="Calibri"/>
                <a:cs typeface="Calibri"/>
                <a:sym typeface="Calibri"/>
              </a:rPr>
              <a:t>Research Gap </a:t>
            </a:r>
            <a:endParaRPr>
              <a:solidFill>
                <a:srgbClr val="11131D"/>
              </a:solidFill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20"/>
          <p:cNvGraphicFramePr/>
          <p:nvPr/>
        </p:nvGraphicFramePr>
        <p:xfrm>
          <a:off x="1047750" y="1237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{D45F542E-D5B4-4AFA-8CB1-8A334B1FCBFD}</a:tableStyleId>
              </a:tblPr>
              <a:tblGrid>
                <a:gridCol w="1400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0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Study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Focus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Limitation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Gap You Address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Mamo et al., 2023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Predict virologic failure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about adherence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 focus on </a:t>
                      </a:r>
                      <a:r>
                        <a:rPr lang="en-US" sz="1100" b="1"/>
                        <a:t>early adherence prediction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Stockman et al., 2022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Identify LTFU risk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Not explainable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 provide </a:t>
                      </a:r>
                      <a:r>
                        <a:rPr lang="en-US" sz="1100" b="1"/>
                        <a:t>interpretable ML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Ogbechie et al., 2023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Predict 30-day interruption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Only short-term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 use </a:t>
                      </a:r>
                      <a:r>
                        <a:rPr lang="en-US" sz="1100" b="1"/>
                        <a:t>multiple prediction horizons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Endebu et al., 2025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Predict LTFU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external validation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 test </a:t>
                      </a:r>
                      <a:r>
                        <a:rPr lang="en-US" sz="1100" b="1"/>
                        <a:t>generalizability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/>
                        <a:t>Ijaiya et al., 2025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Multi-state IIT prediction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Varies by region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/>
                        <a:t>I address </a:t>
                      </a:r>
                      <a:r>
                        <a:rPr lang="en-US" sz="1100" b="1"/>
                        <a:t>fairness across groups</a:t>
                      </a:r>
                      <a:endParaRPr sz="11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1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481677" y="849310"/>
            <a:ext cx="7981200" cy="4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2C2F3C"/>
                </a:solidFill>
                <a:latin typeface="Arial"/>
                <a:ea typeface="Arial"/>
                <a:cs typeface="Arial"/>
                <a:sym typeface="Arial"/>
              </a:rPr>
              <a:t>Key Domains of Data Science </a:t>
            </a:r>
            <a:endParaRPr sz="1800" b="1" i="0" u="none" strike="noStrike" cap="none">
              <a:solidFill>
                <a:srgbClr val="2C2F3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2C2F3C"/>
              </a:solidFill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Data Collection &amp; Preparation</a:t>
            </a:r>
            <a:r>
              <a:rPr lang="en-US" sz="1200"/>
              <a:t> – Gather and clean patient data..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Machine Learning &amp; Modeling</a:t>
            </a:r>
            <a:r>
              <a:rPr lang="en-US" sz="1200"/>
              <a:t> – Predict adherence and treatment risk.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Interpretability &amp; Explainable AI</a:t>
            </a:r>
            <a:r>
              <a:rPr lang="en-US" sz="1200"/>
              <a:t> – Explain predictions for clinicians.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Visualization &amp; Decision Support</a:t>
            </a:r>
            <a:r>
              <a:rPr lang="en-US" sz="1200"/>
              <a:t> – Show insights and recommendations via dashboards.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Big Data / Scalable Systems</a:t>
            </a:r>
            <a:r>
              <a:rPr lang="en-US" sz="1200"/>
              <a:t> – Handle large or multi-clinic datasets efficiently.</a:t>
            </a: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1D1F2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2C2F3C"/>
                </a:solidFill>
                <a:latin typeface="Arial"/>
                <a:ea typeface="Arial"/>
                <a:cs typeface="Arial"/>
                <a:sym typeface="Arial"/>
              </a:rPr>
              <a:t>Latest Technologies Utilized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Python &amp; ML Libraries</a:t>
            </a:r>
            <a:r>
              <a:rPr lang="en-US" sz="1200"/>
              <a:t> – Scikit-learn, XGBoost, TensorFlow for predictive modeling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Explainable AI</a:t>
            </a:r>
            <a:r>
              <a:rPr lang="en-US" sz="1200"/>
              <a:t> – SHAP, LIME to interpret model predictions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Data Management</a:t>
            </a:r>
            <a:r>
              <a:rPr lang="en-US" sz="1200"/>
              <a:t> – SQL/NoSQL, EMR systems for patient data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Visualization &amp; Dashboards</a:t>
            </a:r>
            <a:r>
              <a:rPr lang="en-US" sz="1200"/>
              <a:t> – Tableau, Power BI, Plotly for insights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Cloud &amp; MLOps</a:t>
            </a:r>
            <a:r>
              <a:rPr lang="en-US" sz="1200"/>
              <a:t> – AWS/GCP, Git, MLflow for scalable, reproducible models</a:t>
            </a:r>
            <a:endParaRPr sz="1200"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D1F28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1D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2588208" y="4812923"/>
            <a:ext cx="4343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IT22577610 | Jayarathna J.V.D | 25-26J-147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348341" y="270285"/>
            <a:ext cx="7249732" cy="45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Treatment Optimization and Adherence Prediction for HIV Patients</a:t>
            </a:r>
            <a:endParaRPr sz="2000">
              <a:solidFill>
                <a:srgbClr val="002060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498250" y="725075"/>
            <a:ext cx="7981200" cy="40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>
                <a:solidFill>
                  <a:srgbClr val="2C2F3C"/>
                </a:solidFill>
              </a:rPr>
              <a:t>Evaluation Methods</a:t>
            </a:r>
            <a:endParaRPr sz="1800" b="1" i="0" u="none" strike="noStrike" cap="none">
              <a:solidFill>
                <a:srgbClr val="2C2F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rgbClr val="2C2F3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 b="1"/>
              <a:t>Model Accuracy Testing:</a:t>
            </a:r>
            <a:r>
              <a:rPr lang="en-US" sz="1200"/>
              <a:t> Validate adherence and risk predictions against historical patient records.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 b="1"/>
              <a:t>Early Warning Effectiveness:</a:t>
            </a:r>
            <a:r>
              <a:rPr lang="en-US" sz="1200"/>
              <a:t> Confirm high-risk patients are detected before treatment interruption occurs.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 b="1"/>
              <a:t>Interpretability Verification:</a:t>
            </a:r>
            <a:r>
              <a:rPr lang="en-US" sz="1200"/>
              <a:t> Ensure clinicians can understand and act on model explanations (SHAP/LIME).</a:t>
            </a:r>
            <a:endParaRPr sz="1200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•"/>
            </a:pPr>
            <a:r>
              <a:rPr lang="en-US" sz="1200" b="1"/>
              <a:t>Dashboard &amp; Decision Support Testing:</a:t>
            </a:r>
            <a:r>
              <a:rPr lang="en-US" sz="1200"/>
              <a:t> Verify recommendations and visualizations are clear and actionable.</a:t>
            </a:r>
            <a:endParaRPr sz="1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1D1F2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⮚"/>
            </a:pPr>
            <a:r>
              <a:rPr lang="en-US" sz="1800" b="1" i="0" u="none" strike="noStrike" cap="none">
                <a:solidFill>
                  <a:srgbClr val="2C2F3C"/>
                </a:solidFill>
                <a:latin typeface="Arial"/>
                <a:ea typeface="Arial"/>
                <a:cs typeface="Arial"/>
                <a:sym typeface="Arial"/>
              </a:rPr>
              <a:t>Data Availability &amp; Ethical Clearance</a:t>
            </a:r>
            <a:endParaRPr sz="1800" b="0" i="0" u="none" strike="noStrike" cap="none">
              <a:solidFill>
                <a:srgbClr val="2C2F3C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Data Sources:</a:t>
            </a:r>
            <a:r>
              <a:rPr lang="en-US" sz="1200"/>
              <a:t> Use public datasets ( Kaggle ) and clinic records.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100" b="1"/>
              <a:t>Data Collected:</a:t>
            </a:r>
            <a:r>
              <a:rPr lang="en-US" sz="1100"/>
              <a:t> Age, medical history, treatment records, visit patterns.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100" b="1"/>
              <a:t>Patient privacy is protected.:</a:t>
            </a:r>
            <a:r>
              <a:rPr lang="en-US" sz="1100"/>
              <a:t> No names stored, follows data protection rules.</a:t>
            </a:r>
            <a:endParaRPr sz="1200"/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-US" sz="1200" b="1"/>
              <a:t>Responsible Use:</a:t>
            </a:r>
            <a:r>
              <a:rPr lang="en-US" sz="1200"/>
              <a:t> </a:t>
            </a:r>
            <a:r>
              <a:rPr lang="en-US" sz="1100"/>
              <a:t>The system is designed to support doctors in treatment decisions </a:t>
            </a:r>
            <a:r>
              <a:rPr lang="en-US" sz="1100" b="1"/>
              <a:t>without exposing any sensitive patient information.</a:t>
            </a:r>
            <a:endParaRPr sz="1200"/>
          </a:p>
          <a:p>
            <a:pPr marL="9144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1D1F28"/>
              </a:solidFill>
            </a:endParaRPr>
          </a:p>
          <a:p>
            <a:pPr marL="742950" marR="0" lvl="1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1D1F2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1D1F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2"/>
          <p:cNvSpPr txBox="1"/>
          <p:nvPr/>
        </p:nvSpPr>
        <p:spPr>
          <a:xfrm>
            <a:off x="2588208" y="4812923"/>
            <a:ext cx="4343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IT22577610 | Jayarathna J.V.D | 25-26J-147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348341" y="270285"/>
            <a:ext cx="7249732" cy="45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Treatment Optimization and Adherence Prediction for HIV Patients</a:t>
            </a:r>
            <a:endParaRPr sz="2000">
              <a:solidFill>
                <a:srgbClr val="002060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78" name="Google Shape;278;p23"/>
          <p:cNvSpPr txBox="1">
            <a:spLocks noGrp="1"/>
          </p:cNvSpPr>
          <p:nvPr>
            <p:ph type="title"/>
          </p:nvPr>
        </p:nvSpPr>
        <p:spPr>
          <a:xfrm>
            <a:off x="523847" y="685298"/>
            <a:ext cx="3342807" cy="42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11131D"/>
                </a:solidFill>
                <a:latin typeface="Calibri"/>
                <a:ea typeface="Calibri"/>
                <a:cs typeface="Calibri"/>
                <a:sym typeface="Calibri"/>
              </a:rPr>
              <a:t>System Diagram</a:t>
            </a:r>
            <a:endParaRPr sz="1800">
              <a:solidFill>
                <a:srgbClr val="11131D"/>
              </a:solidFill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2588208" y="4812923"/>
            <a:ext cx="43437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IT22577610 | Jayarathna J.V.D | 25-26J-147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439450" y="137763"/>
            <a:ext cx="7249732" cy="458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Treatment Optimization and Adherence Prediction for HIV Patients</a:t>
            </a:r>
            <a:endParaRPr sz="2000">
              <a:solidFill>
                <a:srgbClr val="002060"/>
              </a:solidFill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 txBox="1"/>
          <p:nvPr/>
        </p:nvSpPr>
        <p:spPr>
          <a:xfrm>
            <a:off x="5325075" y="599125"/>
            <a:ext cx="36567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Real-World Usage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•"/>
            </a:pPr>
            <a:r>
              <a:rPr lang="en-US" sz="1100"/>
              <a:t>Helps patients </a:t>
            </a:r>
            <a:r>
              <a:rPr lang="en-US" sz="1100" b="1"/>
              <a:t>follow their HIV treatment correctly</a:t>
            </a:r>
            <a:r>
              <a:rPr lang="en-US" sz="1100"/>
              <a:t>.</a:t>
            </a:r>
            <a:br>
              <a:rPr lang="en-US" sz="1100"/>
            </a:br>
            <a:endParaRPr sz="11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•"/>
            </a:pPr>
            <a:r>
              <a:rPr lang="en-US" sz="1100"/>
              <a:t>Sends </a:t>
            </a:r>
            <a:r>
              <a:rPr lang="en-US" sz="1100" b="1"/>
              <a:t>personalized reminders and schedules</a:t>
            </a:r>
            <a:r>
              <a:rPr lang="en-US" sz="1100"/>
              <a:t> for taking medication.</a:t>
            </a:r>
            <a:br>
              <a:rPr lang="en-US" sz="1100"/>
            </a:br>
            <a:endParaRPr sz="11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•"/>
            </a:pPr>
            <a:r>
              <a:rPr lang="en-US" sz="1100"/>
              <a:t>Works </a:t>
            </a:r>
            <a:r>
              <a:rPr lang="en-US" sz="1100" b="1"/>
              <a:t>without constant supervision</a:t>
            </a:r>
            <a:r>
              <a:rPr lang="en-US" sz="1100"/>
              <a:t>, supporting patients in daily life.</a:t>
            </a:r>
            <a:br>
              <a:rPr lang="en-US" sz="1100"/>
            </a:br>
            <a:endParaRPr sz="11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•"/>
            </a:pPr>
            <a:r>
              <a:rPr lang="en-US" sz="1100" b="1"/>
              <a:t>Improves adherence</a:t>
            </a:r>
            <a:r>
              <a:rPr lang="en-US" sz="1100"/>
              <a:t> and reduces risk of treatment failure.</a:t>
            </a:r>
            <a:br>
              <a:rPr lang="en-US" sz="1100"/>
            </a:br>
            <a:endParaRPr sz="1100"/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"/>
              <a:buChar char="•"/>
            </a:pPr>
            <a:r>
              <a:rPr lang="en-US" sz="1100"/>
              <a:t>Helps doctors </a:t>
            </a:r>
            <a:r>
              <a:rPr lang="en-US" sz="1100" b="1"/>
              <a:t>monitor patient adherence</a:t>
            </a:r>
            <a:r>
              <a:rPr lang="en-US" sz="1100"/>
              <a:t> and adjust treatment plans.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2" name="Google Shape;282;p23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67058"/>
            <a:ext cx="5422003" cy="30472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389994" y="141217"/>
            <a:ext cx="7883149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Gantt Chart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24"/>
          <p:cNvPicPr preferRelativeResize="0"/>
          <p:nvPr/>
        </p:nvPicPr>
        <p:blipFill rotWithShape="1">
          <a:blip r:embed="rId3">
            <a:alphaModFix/>
          </a:blip>
          <a:srcRect l="3195" t="3350" r="3101" b="5228"/>
          <a:stretch/>
        </p:blipFill>
        <p:spPr>
          <a:xfrm>
            <a:off x="1231074" y="665445"/>
            <a:ext cx="6202458" cy="405096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4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290209" y="132146"/>
            <a:ext cx="924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alibri"/>
                <a:ea typeface="Calibri"/>
                <a:cs typeface="Calibri"/>
                <a:sym typeface="Calibri"/>
              </a:rPr>
              <a:t>End-to-end predictive and prescriptive system for HIV: integrated risk assessment, early detection, and </a:t>
            </a:r>
            <a:endParaRPr sz="15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Calibri"/>
                <a:ea typeface="Calibri"/>
                <a:cs typeface="Calibri"/>
                <a:sym typeface="Calibri"/>
              </a:rPr>
              <a:t>treatment optimization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424630" y="887504"/>
            <a:ext cx="8079300" cy="3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Pricing &amp; Licensing Model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</a:rPr>
              <a:t>Licensing Model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</a:t>
            </a:r>
            <a:r>
              <a:rPr lang="en-US" sz="1600"/>
              <a:t> Provide the system to government hospitals and clinics as a subscription or one-time license.</a:t>
            </a:r>
            <a:br>
              <a:rPr lang="en-US" sz="1600"/>
            </a:br>
            <a:endParaRPr sz="1600"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•"/>
            </a:pPr>
            <a:r>
              <a:rPr lang="en-US" sz="1600" b="1"/>
              <a:t>Customization</a:t>
            </a:r>
            <a:r>
              <a:rPr lang="en-US" sz="1600"/>
              <a:t> → Charge for adapting the system to local workflows, languages, and treatment guidelines.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600" b="1" i="0" u="none" strike="noStrike" cap="none">
                <a:solidFill>
                  <a:srgbClr val="000000"/>
                </a:solidFill>
              </a:rPr>
              <a:t>Consultancy Package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1600"/>
              <a:t>Offer training for healthcare staff and advice on using the system for HIV programs.</a:t>
            </a:r>
            <a:endParaRPr sz="16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299" name="Google Shape;299;p25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 txBox="1">
            <a:spLocks noGrp="1"/>
          </p:cNvSpPr>
          <p:nvPr>
            <p:ph type="sldNum" idx="12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35800" y="162071"/>
            <a:ext cx="92439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End-to-end predictive and prescriptive system for HIV: integrated risk assessment, early detection, and treatment optimization</a:t>
            </a:r>
            <a:endParaRPr sz="2000"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437130" y="1258329"/>
            <a:ext cx="8079300" cy="35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Market</a:t>
            </a:r>
            <a:endParaRPr sz="17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US" sz="1700"/>
              <a:t>Government hospitals, public clinics, and national HIV programs</a:t>
            </a:r>
            <a:br>
              <a:rPr lang="en-US" sz="1700"/>
            </a:b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Profile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US" sz="1700"/>
              <a:t>Healthcare staff and program managers who need early HIV risk detection, guidance, and actionable insights.</a:t>
            </a:r>
            <a:endParaRPr sz="1700"/>
          </a:p>
          <a:p>
            <a:pPr marL="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•"/>
            </a:pPr>
            <a:r>
              <a:rPr lang="en-US" sz="1700"/>
              <a:t>HIV patients</a:t>
            </a:r>
            <a:br>
              <a:rPr lang="en-US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Proposition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01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n-US" sz="1700"/>
              <a:t>Quickly detects HIV risk, suggests personalized actions, and provides easy-to-use dashboards for better patient care.</a:t>
            </a:r>
            <a:br>
              <a:rPr lang="en-US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7"/>
          <p:cNvSpPr txBox="1"/>
          <p:nvPr/>
        </p:nvSpPr>
        <p:spPr>
          <a:xfrm>
            <a:off x="438103" y="610598"/>
            <a:ext cx="7155542" cy="38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r>
              <a:rPr lang="en-US" sz="40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Budget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endParaRPr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endParaRPr sz="4000" b="1" i="0" u="none" strike="noStrike" cap="non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3" name="Google Shape;313;p27"/>
          <p:cNvGraphicFramePr/>
          <p:nvPr/>
        </p:nvGraphicFramePr>
        <p:xfrm>
          <a:off x="1226820" y="129413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{DBE85AC2-2981-4CFC-8DF7-FCF2F29979DC}</a:tableStyleId>
              </a:tblPr>
              <a:tblGrid>
                <a:gridCol w="399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Expense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Amount (Rs.)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Computing/Storage </a:t>
                      </a:r>
                      <a:r>
                        <a:rPr lang="en-US" sz="1400" b="0" i="0" u="none" strike="noStrike" cap="none"/>
                        <a:t>(monthly, avg.</a:t>
                      </a:r>
                      <a:r>
                        <a:rPr lang="en-US" sz="14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8000.00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i="0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Software/Tools </a:t>
                      </a:r>
                      <a:r>
                        <a:rPr lang="en-US" sz="1400" b="0" i="0" u="none" strike="noStrike" cap="none"/>
                        <a:t>(one-time)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15000.00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Data Preparation &amp; Annotation (one-time)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6</a:t>
                      </a:r>
                      <a:r>
                        <a:rPr lang="en-US" sz="1400" u="none" strike="noStrike" cap="none"/>
                        <a:t>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Model Training &amp; Evaluation (one-time)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10</a:t>
                      </a:r>
                      <a:r>
                        <a:rPr lang="en-US" sz="1400" u="none" strike="noStrike" cap="none"/>
                        <a:t>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/>
                        <a:t>Maintenance/Testing (monthly, avg.)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strike="noStrike" cap="none"/>
                        <a:t>5000.00</a:t>
                      </a:r>
                      <a:endParaRPr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Transportation Charges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5000.00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u="none" strike="noStrike" cap="none"/>
                        <a:t>Total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BAEB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49</a:t>
                      </a:r>
                      <a:r>
                        <a:rPr lang="en-US" sz="1400" u="none" strike="noStrike" cap="none"/>
                        <a:t>,000.00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ABAE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4" name="Google Shape;314;p27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8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320" name="Google Shape;320;p28"/>
            <p:cNvSpPr/>
            <p:nvPr/>
          </p:nvSpPr>
          <p:spPr>
            <a:xfrm>
              <a:off x="3677747" y="776267"/>
              <a:ext cx="2670951" cy="3350306"/>
            </a:xfrm>
            <a:custGeom>
              <a:avLst/>
              <a:gdLst/>
              <a:ahLst/>
              <a:cxnLst/>
              <a:rect l="l" t="t" r="r" b="b"/>
              <a:pathLst>
                <a:path w="2670951" h="3350306" extrusionOk="0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3662233" y="794118"/>
              <a:ext cx="2655076" cy="3335369"/>
            </a:xfrm>
            <a:custGeom>
              <a:avLst/>
              <a:gdLst/>
              <a:ahLst/>
              <a:cxnLst/>
              <a:rect l="l" t="t" r="r" b="b"/>
              <a:pathLst>
                <a:path w="2655076" h="3335369" extrusionOk="0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3763407" y="1012375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3763407" y="1170775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3763407" y="1252119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3763407" y="1333558"/>
              <a:ext cx="1235786" cy="759428"/>
            </a:xfrm>
            <a:custGeom>
              <a:avLst/>
              <a:gdLst/>
              <a:ahLst/>
              <a:cxnLst/>
              <a:rect l="l" t="t" r="r" b="b"/>
              <a:pathLst>
                <a:path w="1235786" h="759428" extrusionOk="0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5632982" y="2768594"/>
              <a:ext cx="578775" cy="425291"/>
            </a:xfrm>
            <a:custGeom>
              <a:avLst/>
              <a:gdLst/>
              <a:ahLst/>
              <a:cxnLst/>
              <a:rect l="l" t="t" r="r" b="b"/>
              <a:pathLst>
                <a:path w="578775" h="425291" extrusionOk="0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5632982" y="2926995"/>
              <a:ext cx="548794" cy="362521"/>
            </a:xfrm>
            <a:custGeom>
              <a:avLst/>
              <a:gdLst/>
              <a:ahLst/>
              <a:cxnLst/>
              <a:rect l="l" t="t" r="r" b="b"/>
              <a:pathLst>
                <a:path w="548794" h="362521" extrusionOk="0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5632982" y="3008338"/>
              <a:ext cx="484930" cy="325659"/>
            </a:xfrm>
            <a:custGeom>
              <a:avLst/>
              <a:gdLst/>
              <a:ahLst/>
              <a:cxnLst/>
              <a:rect l="l" t="t" r="r" b="b"/>
              <a:pathLst>
                <a:path w="484930" h="325659" extrusionOk="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5632982" y="3089777"/>
              <a:ext cx="454092" cy="307752"/>
            </a:xfrm>
            <a:custGeom>
              <a:avLst/>
              <a:gdLst/>
              <a:ahLst/>
              <a:cxnLst/>
              <a:rect l="l" t="t" r="r" b="b"/>
              <a:pathLst>
                <a:path w="454092" h="307752" extrusionOk="0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3763407" y="1505008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3763407" y="1663408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8"/>
            <p:cNvSpPr/>
            <p:nvPr/>
          </p:nvSpPr>
          <p:spPr>
            <a:xfrm>
              <a:off x="3763407" y="1744847"/>
              <a:ext cx="1319638" cy="807910"/>
            </a:xfrm>
            <a:custGeom>
              <a:avLst/>
              <a:gdLst/>
              <a:ahLst/>
              <a:cxnLst/>
              <a:rect l="l" t="t" r="r" b="b"/>
              <a:pathLst>
                <a:path w="1319638" h="807910" extrusionOk="0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8"/>
            <p:cNvSpPr/>
            <p:nvPr/>
          </p:nvSpPr>
          <p:spPr>
            <a:xfrm>
              <a:off x="3763407" y="1826191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3763407" y="1997641"/>
              <a:ext cx="1575095" cy="1001077"/>
            </a:xfrm>
            <a:custGeom>
              <a:avLst/>
              <a:gdLst/>
              <a:ahLst/>
              <a:cxnLst/>
              <a:rect l="l" t="t" r="r" b="b"/>
              <a:pathLst>
                <a:path w="1575095" h="1001077" extrusionOk="0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3763407" y="2156137"/>
              <a:ext cx="1493432" cy="908399"/>
            </a:xfrm>
            <a:custGeom>
              <a:avLst/>
              <a:gdLst/>
              <a:ahLst/>
              <a:cxnLst/>
              <a:rect l="l" t="t" r="r" b="b"/>
              <a:pathLst>
                <a:path w="1493432" h="908399" extrusionOk="0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3763407" y="2237480"/>
              <a:ext cx="1319638" cy="808005"/>
            </a:xfrm>
            <a:custGeom>
              <a:avLst/>
              <a:gdLst/>
              <a:ahLst/>
              <a:cxnLst/>
              <a:rect l="l" t="t" r="r" b="b"/>
              <a:pathLst>
                <a:path w="1319638" h="808005" extrusionOk="0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3763407" y="2318824"/>
              <a:ext cx="1235786" cy="759523"/>
            </a:xfrm>
            <a:custGeom>
              <a:avLst/>
              <a:gdLst/>
              <a:ahLst/>
              <a:cxnLst/>
              <a:rect l="l" t="t" r="r" b="b"/>
              <a:pathLst>
                <a:path w="1235786" h="759523" extrusionOk="0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3763407" y="2490369"/>
              <a:ext cx="1575095" cy="1000982"/>
            </a:xfrm>
            <a:custGeom>
              <a:avLst/>
              <a:gdLst/>
              <a:ahLst/>
              <a:cxnLst/>
              <a:rect l="l" t="t" r="r" b="b"/>
              <a:pathLst>
                <a:path w="1575095" h="1000982" extrusionOk="0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3763407" y="2648770"/>
              <a:ext cx="1493528" cy="887920"/>
            </a:xfrm>
            <a:custGeom>
              <a:avLst/>
              <a:gdLst/>
              <a:ahLst/>
              <a:cxnLst/>
              <a:rect l="l" t="t" r="r" b="b"/>
              <a:pathLst>
                <a:path w="1493528" h="887920" extrusionOk="0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5633267" y="2100963"/>
              <a:ext cx="578489" cy="901329"/>
            </a:xfrm>
            <a:custGeom>
              <a:avLst/>
              <a:gdLst/>
              <a:ahLst/>
              <a:cxnLst/>
              <a:rect l="l" t="t" r="r" b="b"/>
              <a:pathLst>
                <a:path w="578489" h="901329" extrusionOk="0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3680697" y="317054"/>
              <a:ext cx="2667830" cy="1909376"/>
            </a:xfrm>
            <a:custGeom>
              <a:avLst/>
              <a:gdLst/>
              <a:ahLst/>
              <a:cxnLst/>
              <a:rect l="l" t="t" r="r" b="b"/>
              <a:pathLst>
                <a:path w="2667830" h="1909376" extrusionOk="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8"/>
            <p:cNvSpPr/>
            <p:nvPr/>
          </p:nvSpPr>
          <p:spPr>
            <a:xfrm>
              <a:off x="3662233" y="334831"/>
              <a:ext cx="2655171" cy="1893451"/>
            </a:xfrm>
            <a:custGeom>
              <a:avLst/>
              <a:gdLst/>
              <a:ahLst/>
              <a:cxnLst/>
              <a:rect l="l" t="t" r="r" b="b"/>
              <a:pathLst>
                <a:path w="2655171" h="1893451" extrusionOk="0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8"/>
            <p:cNvSpPr/>
            <p:nvPr/>
          </p:nvSpPr>
          <p:spPr>
            <a:xfrm>
              <a:off x="3763692" y="506668"/>
              <a:ext cx="2448064" cy="1546988"/>
            </a:xfrm>
            <a:custGeom>
              <a:avLst/>
              <a:gdLst/>
              <a:ahLst/>
              <a:cxnLst/>
              <a:rect l="l" t="t" r="r" b="b"/>
              <a:pathLst>
                <a:path w="2448064" h="1546988" extrusionOk="0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6042246" y="1815046"/>
              <a:ext cx="173984" cy="241344"/>
            </a:xfrm>
            <a:custGeom>
              <a:avLst/>
              <a:gdLst/>
              <a:ahLst/>
              <a:cxnLst/>
              <a:rect l="l" t="t" r="r" b="b"/>
              <a:pathLst>
                <a:path w="173984" h="241344" extrusionOk="0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3824606" y="578160"/>
              <a:ext cx="40165" cy="72472"/>
            </a:xfrm>
            <a:custGeom>
              <a:avLst/>
              <a:gdLst/>
              <a:ahLst/>
              <a:cxnLst/>
              <a:rect l="l" t="t" r="r" b="b"/>
              <a:pathLst>
                <a:path w="40165" h="72472" extrusionOk="0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3871213" y="621212"/>
              <a:ext cx="35348" cy="54941"/>
            </a:xfrm>
            <a:custGeom>
              <a:avLst/>
              <a:gdLst/>
              <a:ahLst/>
              <a:cxnLst/>
              <a:rect l="l" t="t" r="r" b="b"/>
              <a:pathLst>
                <a:path w="35348" h="54941" extrusionOk="0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3913502" y="644554"/>
              <a:ext cx="33883" cy="60925"/>
            </a:xfrm>
            <a:custGeom>
              <a:avLst/>
              <a:gdLst/>
              <a:ahLst/>
              <a:cxnLst/>
              <a:rect l="l" t="t" r="r" b="b"/>
              <a:pathLst>
                <a:path w="33883" h="60925" extrusionOk="0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3956522" y="663093"/>
              <a:ext cx="19892" cy="51720"/>
            </a:xfrm>
            <a:custGeom>
              <a:avLst/>
              <a:gdLst/>
              <a:ahLst/>
              <a:cxnLst/>
              <a:rect l="l" t="t" r="r" b="b"/>
              <a:pathLst>
                <a:path w="19892" h="51720" extrusionOk="0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3980286" y="683824"/>
              <a:ext cx="34675" cy="54516"/>
            </a:xfrm>
            <a:custGeom>
              <a:avLst/>
              <a:gdLst/>
              <a:ahLst/>
              <a:cxnLst/>
              <a:rect l="l" t="t" r="r" b="b"/>
              <a:pathLst>
                <a:path w="34675" h="54516" extrusionOk="0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4022575" y="681666"/>
              <a:ext cx="32718" cy="85915"/>
            </a:xfrm>
            <a:custGeom>
              <a:avLst/>
              <a:gdLst/>
              <a:ahLst/>
              <a:cxnLst/>
              <a:rect l="l" t="t" r="r" b="b"/>
              <a:pathLst>
                <a:path w="32718" h="85915" extrusionOk="0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4065860" y="766513"/>
              <a:ext cx="8800" cy="10615"/>
            </a:xfrm>
            <a:custGeom>
              <a:avLst/>
              <a:gdLst/>
              <a:ahLst/>
              <a:cxnLst/>
              <a:rect l="l" t="t" r="r" b="b"/>
              <a:pathLst>
                <a:path w="8800" h="10615" extrusionOk="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4086317" y="778377"/>
              <a:ext cx="8807" cy="10445"/>
            </a:xfrm>
            <a:custGeom>
              <a:avLst/>
              <a:gdLst/>
              <a:ahLst/>
              <a:cxnLst/>
              <a:rect l="l" t="t" r="r" b="b"/>
              <a:pathLst>
                <a:path w="8807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4106781" y="790188"/>
              <a:ext cx="8804" cy="10445"/>
            </a:xfrm>
            <a:custGeom>
              <a:avLst/>
              <a:gdLst/>
              <a:ahLst/>
              <a:cxnLst/>
              <a:rect l="l" t="t" r="r" b="b"/>
              <a:pathLst>
                <a:path w="8804" h="10445" extrusionOk="0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6091738" y="1886219"/>
              <a:ext cx="73770" cy="113063"/>
            </a:xfrm>
            <a:custGeom>
              <a:avLst/>
              <a:gdLst/>
              <a:ahLst/>
              <a:cxnLst/>
              <a:rect l="l" t="t" r="r" b="b"/>
              <a:pathLst>
                <a:path w="73770" h="113063" extrusionOk="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5099606" y="2084115"/>
              <a:ext cx="833576" cy="1053763"/>
            </a:xfrm>
            <a:custGeom>
              <a:avLst/>
              <a:gdLst/>
              <a:ahLst/>
              <a:cxnLst/>
              <a:rect l="l" t="t" r="r" b="b"/>
              <a:pathLst>
                <a:path w="833576" h="1053763" extrusionOk="0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4974070" y="2163744"/>
              <a:ext cx="820424" cy="1006964"/>
            </a:xfrm>
            <a:custGeom>
              <a:avLst/>
              <a:gdLst/>
              <a:ahLst/>
              <a:cxnLst/>
              <a:rect l="l" t="t" r="r" b="b"/>
              <a:pathLst>
                <a:path w="820424" h="1006964" extrusionOk="0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5034477" y="2242227"/>
              <a:ext cx="618491" cy="852150"/>
            </a:xfrm>
            <a:custGeom>
              <a:avLst/>
              <a:gdLst/>
              <a:ahLst/>
              <a:cxnLst/>
              <a:rect l="l" t="t" r="r" b="b"/>
              <a:pathLst>
                <a:path w="618491" h="852150" extrusionOk="0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5108865" y="2242623"/>
              <a:ext cx="621582" cy="807149"/>
            </a:xfrm>
            <a:custGeom>
              <a:avLst/>
              <a:gdLst/>
              <a:ahLst/>
              <a:cxnLst/>
              <a:rect l="l" t="t" r="r" b="b"/>
              <a:pathLst>
                <a:path w="621582" h="807149" extrusionOk="0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5831808" y="2838412"/>
              <a:ext cx="311135" cy="259746"/>
            </a:xfrm>
            <a:custGeom>
              <a:avLst/>
              <a:gdLst/>
              <a:ahLst/>
              <a:cxnLst/>
              <a:rect l="l" t="t" r="r" b="b"/>
              <a:pathLst>
                <a:path w="311135" h="259746" extrusionOk="0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5831808" y="2798312"/>
              <a:ext cx="380520" cy="219646"/>
            </a:xfrm>
            <a:custGeom>
              <a:avLst/>
              <a:gdLst/>
              <a:ahLst/>
              <a:cxnLst/>
              <a:rect l="l" t="t" r="r" b="b"/>
              <a:pathLst>
                <a:path w="380520" h="219646" extrusionOk="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6056214" y="2910510"/>
              <a:ext cx="696628" cy="514166"/>
            </a:xfrm>
            <a:custGeom>
              <a:avLst/>
              <a:gdLst/>
              <a:ahLst/>
              <a:cxnLst/>
              <a:rect l="l" t="t" r="r" b="b"/>
              <a:pathLst>
                <a:path w="696628" h="514166" extrusionOk="0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6620145" y="3238764"/>
              <a:ext cx="156663" cy="192193"/>
            </a:xfrm>
            <a:custGeom>
              <a:avLst/>
              <a:gdLst/>
              <a:ahLst/>
              <a:cxnLst/>
              <a:rect l="l" t="t" r="r" b="b"/>
              <a:pathLst>
                <a:path w="156663" h="192193" extrusionOk="0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3797207" y="2991392"/>
              <a:ext cx="2353338" cy="1403876"/>
            </a:xfrm>
            <a:custGeom>
              <a:avLst/>
              <a:gdLst/>
              <a:ahLst/>
              <a:cxnLst/>
              <a:rect l="l" t="t" r="r" b="b"/>
              <a:pathLst>
                <a:path w="2353338" h="1403876" extrusionOk="0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2602525" y="4569200"/>
              <a:ext cx="891148" cy="510349"/>
            </a:xfrm>
            <a:custGeom>
              <a:avLst/>
              <a:gdLst/>
              <a:ahLst/>
              <a:cxnLst/>
              <a:rect l="l" t="t" r="r" b="b"/>
              <a:pathLst>
                <a:path w="891148" h="510349" extrusionOk="0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2671243" y="4325932"/>
              <a:ext cx="591243" cy="341661"/>
            </a:xfrm>
            <a:custGeom>
              <a:avLst/>
              <a:gdLst/>
              <a:ahLst/>
              <a:cxnLst/>
              <a:rect l="l" t="t" r="r" b="b"/>
              <a:pathLst>
                <a:path w="591243" h="341661" extrusionOk="0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8"/>
            <p:cNvSpPr/>
            <p:nvPr/>
          </p:nvSpPr>
          <p:spPr>
            <a:xfrm>
              <a:off x="2671243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8"/>
            <p:cNvSpPr/>
            <p:nvPr/>
          </p:nvSpPr>
          <p:spPr>
            <a:xfrm>
              <a:off x="2966865" y="4496715"/>
              <a:ext cx="295621" cy="512444"/>
            </a:xfrm>
            <a:custGeom>
              <a:avLst/>
              <a:gdLst/>
              <a:ahLst/>
              <a:cxnLst/>
              <a:rect l="l" t="t" r="r" b="b"/>
              <a:pathLst>
                <a:path w="295621" h="512444" extrusionOk="0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8"/>
            <p:cNvSpPr/>
            <p:nvPr/>
          </p:nvSpPr>
          <p:spPr>
            <a:xfrm>
              <a:off x="3352925" y="4700698"/>
              <a:ext cx="220640" cy="124389"/>
            </a:xfrm>
            <a:custGeom>
              <a:avLst/>
              <a:gdLst/>
              <a:ahLst/>
              <a:cxnLst/>
              <a:rect l="l" t="t" r="r" b="b"/>
              <a:pathLst>
                <a:path w="220640" h="124389" extrusionOk="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8"/>
            <p:cNvSpPr/>
            <p:nvPr/>
          </p:nvSpPr>
          <p:spPr>
            <a:xfrm>
              <a:off x="3356617" y="4721600"/>
              <a:ext cx="217074" cy="103773"/>
            </a:xfrm>
            <a:custGeom>
              <a:avLst/>
              <a:gdLst/>
              <a:ahLst/>
              <a:cxnLst/>
              <a:rect l="l" t="t" r="r" b="b"/>
              <a:pathLst>
                <a:path w="217074" h="103773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8"/>
            <p:cNvSpPr/>
            <p:nvPr/>
          </p:nvSpPr>
          <p:spPr>
            <a:xfrm>
              <a:off x="3173533" y="4605067"/>
              <a:ext cx="220687" cy="124551"/>
            </a:xfrm>
            <a:custGeom>
              <a:avLst/>
              <a:gdLst/>
              <a:ahLst/>
              <a:cxnLst/>
              <a:rect l="l" t="t" r="r" b="b"/>
              <a:pathLst>
                <a:path w="220687" h="124551" extrusionOk="0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8"/>
            <p:cNvSpPr/>
            <p:nvPr/>
          </p:nvSpPr>
          <p:spPr>
            <a:xfrm>
              <a:off x="3177588" y="4625969"/>
              <a:ext cx="217074" cy="103649"/>
            </a:xfrm>
            <a:custGeom>
              <a:avLst/>
              <a:gdLst/>
              <a:ahLst/>
              <a:cxnLst/>
              <a:rect l="l" t="t" r="r" b="b"/>
              <a:pathLst>
                <a:path w="217074" h="103649" extrusionOk="0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8"/>
            <p:cNvSpPr/>
            <p:nvPr/>
          </p:nvSpPr>
          <p:spPr>
            <a:xfrm>
              <a:off x="2766014" y="4132721"/>
              <a:ext cx="711887" cy="612953"/>
            </a:xfrm>
            <a:custGeom>
              <a:avLst/>
              <a:gdLst/>
              <a:ahLst/>
              <a:cxnLst/>
              <a:rect l="l" t="t" r="r" b="b"/>
              <a:pathLst>
                <a:path w="711887" h="612953" extrusionOk="0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8"/>
            <p:cNvSpPr/>
            <p:nvPr/>
          </p:nvSpPr>
          <p:spPr>
            <a:xfrm>
              <a:off x="2706078" y="4012750"/>
              <a:ext cx="153426" cy="268033"/>
            </a:xfrm>
            <a:custGeom>
              <a:avLst/>
              <a:gdLst/>
              <a:ahLst/>
              <a:cxnLst/>
              <a:rect l="l" t="t" r="r" b="b"/>
              <a:pathLst>
                <a:path w="153426" h="268033" extrusionOk="0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8"/>
            <p:cNvSpPr/>
            <p:nvPr/>
          </p:nvSpPr>
          <p:spPr>
            <a:xfrm>
              <a:off x="2694181" y="3854621"/>
              <a:ext cx="102411" cy="197244"/>
            </a:xfrm>
            <a:custGeom>
              <a:avLst/>
              <a:gdLst/>
              <a:ahLst/>
              <a:cxnLst/>
              <a:rect l="l" t="t" r="r" b="b"/>
              <a:pathLst>
                <a:path w="102411" h="197244" extrusionOk="0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8"/>
            <p:cNvSpPr/>
            <p:nvPr/>
          </p:nvSpPr>
          <p:spPr>
            <a:xfrm>
              <a:off x="2799755" y="3593223"/>
              <a:ext cx="234442" cy="375527"/>
            </a:xfrm>
            <a:custGeom>
              <a:avLst/>
              <a:gdLst/>
              <a:ahLst/>
              <a:cxnLst/>
              <a:rect l="l" t="t" r="r" b="b"/>
              <a:pathLst>
                <a:path w="234442" h="375527" extrusionOk="0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7" name="Google Shape;377;p28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378" name="Google Shape;378;p28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379" name="Google Shape;379;p28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083" h="167618" extrusionOk="0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0" name="Google Shape;380;p28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539" h="123825" extrusionOk="0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1" name="Google Shape;381;p28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198" h="274003" extrusionOk="0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2" name="Google Shape;382;p28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383" name="Google Shape;383;p28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724" h="77247" extrusionOk="0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4" name="Google Shape;384;p28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154" h="75723" extrusionOk="0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85" name="Google Shape;385;p28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6" name="Google Shape;386;p28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3" h="16916" extrusionOk="0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7" name="Google Shape;387;p28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8" name="Google Shape;388;p28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487" extrusionOk="0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9" name="Google Shape;389;p28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2" h="17487" extrusionOk="0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0" name="Google Shape;390;p28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" name="Google Shape;391;p28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0" h="17011" extrusionOk="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" name="Google Shape;392;p28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" name="Google Shape;393;p28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4" name="Google Shape;394;p28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5" name="Google Shape;395;p28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6" name="Google Shape;396;p28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83" extrusionOk="0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7" name="Google Shape;397;p28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8" h="17011" extrusionOk="0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8" name="Google Shape;398;p28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809" extrusionOk="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9" name="Google Shape;399;p28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0" name="Google Shape;400;p28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1" name="Google Shape;401;p28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2" name="Google Shape;402;p28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34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3" name="Google Shape;403;p28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47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4" name="Google Shape;404;p28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106" extrusionOk="0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" name="Google Shape;405;p28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" name="Google Shape;406;p28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7011" extrusionOk="0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7" name="Google Shape;407;p28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90" h="17011" extrusionOk="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8" name="Google Shape;408;p28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26" h="17011" extrusionOk="0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9" name="Google Shape;409;p28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" name="Google Shape;410;p28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28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80" h="21745" extrusionOk="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28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109" h="24112" extrusionOk="0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3" name="Google Shape;413;p28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4" name="Google Shape;414;p28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938" h="17011" extrusionOk="0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5" name="Google Shape;415;p28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6" name="Google Shape;416;p28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52" h="17011" extrusionOk="0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7" name="Google Shape;417;p28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8" name="Google Shape;418;p28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9" name="Google Shape;419;p28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7202" extrusionOk="0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28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98" h="19393" extrusionOk="0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28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78" h="19392" extrusionOk="0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" name="Google Shape;422;p28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308" h="56826" extrusionOk="0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28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87" h="16916" extrusionOk="0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28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4" h="17106" extrusionOk="0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28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7011" extrusionOk="0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28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28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28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41" h="16916" extrusionOk="0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28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08" h="17106" extrusionOk="0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0" name="Google Shape;430;p28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5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28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33" h="17487" extrusionOk="0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28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3" h="16630" extrusionOk="0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28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41" h="17011" extrusionOk="0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4" name="Google Shape;434;p28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5" name="Google Shape;435;p28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331" h="24441" extrusionOk="0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6" name="Google Shape;436;p28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5" h="17142" extrusionOk="0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7" name="Google Shape;437;p28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8" name="Google Shape;438;p28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6916" extrusionOk="0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28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7011" extrusionOk="0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28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44" h="17106" extrusionOk="0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28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6916" extrusionOk="0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2" name="Google Shape;442;p28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3" name="Google Shape;443;p28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41" h="17011" extrusionOk="0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28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3" h="16916" extrusionOk="0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28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91" h="16916" extrusionOk="0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28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76" h="17011" extrusionOk="0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28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834" h="28917" extrusionOk="0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28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68" h="19459" extrusionOk="0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28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450" name="Google Shape;450;p28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451" name="Google Shape;451;p28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484" h="386884" extrusionOk="0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2" name="Google Shape;452;p28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4295" h="175524" extrusionOk="0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3" name="Google Shape;453;p2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4" name="Google Shape;454;p2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444" h="383687" extrusionOk="0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55" name="Google Shape;455;p28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7062" h="168020" extrusionOk="0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endParaRPr sz="1800" b="0" i="0" u="none" strike="noStrike" cap="non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56" name="Google Shape;456;p28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6" h="199929" extrusionOk="0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28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645" h="344805" extrusionOk="0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8" name="Google Shape;458;p28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072" h="152400" extrusionOk="0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459" name="Google Shape;459;p28"/>
            <p:cNvSpPr/>
            <p:nvPr/>
          </p:nvSpPr>
          <p:spPr>
            <a:xfrm>
              <a:off x="2723181" y="3858886"/>
              <a:ext cx="360479" cy="597446"/>
            </a:xfrm>
            <a:custGeom>
              <a:avLst/>
              <a:gdLst/>
              <a:ahLst/>
              <a:cxnLst/>
              <a:rect l="l" t="t" r="r" b="b"/>
              <a:pathLst>
                <a:path w="360479" h="597446" extrusionOk="0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28"/>
            <p:cNvSpPr/>
            <p:nvPr/>
          </p:nvSpPr>
          <p:spPr>
            <a:xfrm>
              <a:off x="2983060" y="3959444"/>
              <a:ext cx="457273" cy="356362"/>
            </a:xfrm>
            <a:custGeom>
              <a:avLst/>
              <a:gdLst/>
              <a:ahLst/>
              <a:cxnLst/>
              <a:rect l="l" t="t" r="r" b="b"/>
              <a:pathLst>
                <a:path w="457273" h="356362" extrusionOk="0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28"/>
            <p:cNvSpPr/>
            <p:nvPr/>
          </p:nvSpPr>
          <p:spPr>
            <a:xfrm>
              <a:off x="2966834" y="3952080"/>
              <a:ext cx="139371" cy="203905"/>
            </a:xfrm>
            <a:custGeom>
              <a:avLst/>
              <a:gdLst/>
              <a:ahLst/>
              <a:cxnLst/>
              <a:rect l="l" t="t" r="r" b="b"/>
              <a:pathLst>
                <a:path w="139371" h="203905" extrusionOk="0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8"/>
            <p:cNvSpPr/>
            <p:nvPr/>
          </p:nvSpPr>
          <p:spPr>
            <a:xfrm>
              <a:off x="2806828" y="3576743"/>
              <a:ext cx="227254" cy="250802"/>
            </a:xfrm>
            <a:custGeom>
              <a:avLst/>
              <a:gdLst/>
              <a:ahLst/>
              <a:cxnLst/>
              <a:rect l="l" t="t" r="r" b="b"/>
              <a:pathLst>
                <a:path w="227254" h="250802" extrusionOk="0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28"/>
            <p:cNvSpPr/>
            <p:nvPr/>
          </p:nvSpPr>
          <p:spPr>
            <a:xfrm>
              <a:off x="3061186" y="4495381"/>
              <a:ext cx="201300" cy="278129"/>
            </a:xfrm>
            <a:custGeom>
              <a:avLst/>
              <a:gdLst/>
              <a:ahLst/>
              <a:cxnLst/>
              <a:rect l="l" t="t" r="r" b="b"/>
              <a:pathLst>
                <a:path w="201300" h="278129" extrusionOk="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28"/>
            <p:cNvSpPr/>
            <p:nvPr/>
          </p:nvSpPr>
          <p:spPr>
            <a:xfrm>
              <a:off x="3130570" y="4465187"/>
              <a:ext cx="131916" cy="77057"/>
            </a:xfrm>
            <a:custGeom>
              <a:avLst/>
              <a:gdLst/>
              <a:ahLst/>
              <a:cxnLst/>
              <a:rect l="l" t="t" r="r" b="b"/>
              <a:pathLst>
                <a:path w="131916" h="77057" extrusionOk="0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5" name="Google Shape;465;p28"/>
          <p:cNvSpPr txBox="1">
            <a:spLocks noGrp="1"/>
          </p:cNvSpPr>
          <p:nvPr>
            <p:ph type="ctrTitle" idx="4294967295"/>
          </p:nvPr>
        </p:nvSpPr>
        <p:spPr>
          <a:xfrm>
            <a:off x="685800" y="1202438"/>
            <a:ext cx="4955754" cy="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</a:pPr>
            <a:r>
              <a:rPr lang="en-US" sz="72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200" b="0" i="0" u="none" strike="noStrike" cap="non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8"/>
          <p:cNvSpPr txBox="1">
            <a:spLocks noGrp="1"/>
          </p:cNvSpPr>
          <p:nvPr>
            <p:ph type="subTitle" idx="4294967295"/>
          </p:nvPr>
        </p:nvSpPr>
        <p:spPr>
          <a:xfrm>
            <a:off x="692352" y="2014318"/>
            <a:ext cx="4343700" cy="19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None/>
            </a:pPr>
            <a:r>
              <a:rPr lang="en-US" sz="3600" b="1" i="0" u="none" strike="noStrike" cap="non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Any questions?</a:t>
            </a:r>
            <a:endParaRPr sz="3600" b="1" i="0" u="none" strike="noStrike" cap="non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6931908" y="4804946"/>
            <a:ext cx="132347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12/09/2025</a:t>
            </a: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2fe016a5c8addf57cf345e62dcdee204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9bddff67c2b6b81dfc46c07a910ce6e7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8C472628-E791-49FD-A745-E3866E7718D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5195e-671e-423b-bef2-4f1205612242"/>
    <ds:schemaRef ds:uri="db72c12f-87a4-44ab-bbc5-4cc8306b15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7BBCF2-3FC2-4F6A-851C-69946DBBA7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F5E97E-449A-4BE6-BC2D-1E131EA19646}">
  <ds:schemaRefs>
    <ds:schemaRef ds:uri="http://schemas.microsoft.com/office/2006/metadata/properties"/>
    <ds:schemaRef ds:uri="http://schemas.microsoft.com/office/infopath/2007/PartnerControls"/>
    <ds:schemaRef ds:uri="b315195e-671e-423b-bef2-4f1205612242"/>
    <ds:schemaRef ds:uri="db72c12f-87a4-44ab-bbc5-4cc8306b158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30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Gaoler template</vt:lpstr>
      <vt:lpstr>PowerPoint Presentation</vt:lpstr>
      <vt:lpstr>Our Research Team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Diagram</vt:lpstr>
      <vt:lpstr>HIV Risk Identification and Personalized Intervention Sequencing for Risk Reduction   </vt:lpstr>
      <vt:lpstr>HIV Risk Identification and Personalized Intervention Sequencing for Risk Reduction </vt:lpstr>
      <vt:lpstr>PowerPoint Presentation</vt:lpstr>
      <vt:lpstr>HIV Risk Identification and Personalized Intervention Sequencing for Risk Reduction  </vt:lpstr>
      <vt:lpstr>PowerPoint Presentation</vt:lpstr>
      <vt:lpstr>PowerPoint Presentation</vt:lpstr>
      <vt:lpstr>PowerPoint Presentation</vt:lpstr>
      <vt:lpstr>Research Gap </vt:lpstr>
      <vt:lpstr>PowerPoint Presentation</vt:lpstr>
      <vt:lpstr>PowerPoint Presentation</vt:lpstr>
      <vt:lpstr>System Diagram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SandaruJ</dc:creator>
  <cp:revision>1</cp:revision>
  <dcterms:modified xsi:type="dcterms:W3CDTF">2026-04-26T07:59:02Z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  <property fmtid="{D5CDD505-2E9C-101B-9397-08002B2CF9AE}" pid="3" name="MediaServiceImageTags">
    <vt:lpwstr/>
  </property>
</Properties>
</file>