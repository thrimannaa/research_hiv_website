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6" r:id="rId5"/>
    <p:sldId id="295" r:id="rId6"/>
    <p:sldId id="318" r:id="rId7"/>
    <p:sldId id="324" r:id="rId8"/>
    <p:sldId id="323" r:id="rId9"/>
    <p:sldId id="303" r:id="rId10"/>
    <p:sldId id="308" r:id="rId11"/>
    <p:sldId id="317" r:id="rId12"/>
    <p:sldId id="313" r:id="rId13"/>
    <p:sldId id="325" r:id="rId14"/>
    <p:sldId id="326" r:id="rId15"/>
    <p:sldId id="3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3E6AC-888B-E672-C5D0-BA59856AA916}" v="148" dt="2026-01-09T14:18:50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0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545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2"/>
          <p:cNvSpPr/>
          <p:nvPr/>
        </p:nvSpPr>
        <p:spPr>
          <a:xfrm rot="5400000">
            <a:off x="-133800" y="9659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2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body" idx="1"/>
          </p:nvPr>
        </p:nvSpPr>
        <p:spPr>
          <a:xfrm>
            <a:off x="6096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2"/>
          </p:nvPr>
        </p:nvSpPr>
        <p:spPr>
          <a:xfrm>
            <a:off x="43870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3"/>
          </p:nvPr>
        </p:nvSpPr>
        <p:spPr>
          <a:xfrm>
            <a:off x="81644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5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4/26/2026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  <p:sldLayoutId id="2147483665" r:id="rId16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8D42-BD81-DE02-6D3C-0EF04AA7B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386" y="1529276"/>
            <a:ext cx="10354228" cy="2529447"/>
          </a:xfrm>
        </p:spPr>
        <p:txBody>
          <a:bodyPr/>
          <a:lstStyle/>
          <a:p>
            <a:r>
              <a:rPr lang="en-US" sz="4000" b="1">
                <a:latin typeface="Calibri"/>
                <a:ea typeface="Calibri"/>
                <a:cs typeface="Calibri"/>
              </a:rPr>
              <a:t>End-to-end predictive and prescriptive system for HIV: integrated risk assessment, early detection, and treatment optimization</a:t>
            </a:r>
            <a:endParaRPr lang="en-US"/>
          </a:p>
        </p:txBody>
      </p:sp>
      <p:cxnSp>
        <p:nvCxnSpPr>
          <p:cNvPr id="4" name="Google Shape;33;p1">
            <a:extLst>
              <a:ext uri="{FF2B5EF4-FFF2-40B4-BE49-F238E27FC236}">
                <a16:creationId xmlns:a16="http://schemas.microsoft.com/office/drawing/2014/main" id="{13485588-B225-997E-524A-E43B166179FE}"/>
              </a:ext>
            </a:extLst>
          </p:cNvPr>
          <p:cNvCxnSpPr/>
          <p:nvPr/>
        </p:nvCxnSpPr>
        <p:spPr>
          <a:xfrm>
            <a:off x="1282099" y="3743476"/>
            <a:ext cx="9492340" cy="0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659B6CB-267E-689E-61A0-195E4799D2F4}"/>
              </a:ext>
            </a:extLst>
          </p:cNvPr>
          <p:cNvSpPr txBox="1"/>
          <p:nvPr/>
        </p:nvSpPr>
        <p:spPr>
          <a:xfrm>
            <a:off x="1221619" y="4082143"/>
            <a:ext cx="6096000" cy="1515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4250" b="1" baseline="0">
                <a:solidFill>
                  <a:srgbClr val="002060"/>
                </a:solidFill>
                <a:latin typeface="Calibri"/>
                <a:ea typeface="Segoe UI"/>
                <a:cs typeface="Segoe UI"/>
              </a:rPr>
              <a:t>Group ID - 25-26J-147</a:t>
            </a:r>
            <a:r>
              <a:rPr lang="en-US" sz="425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5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EE3D2-5D0F-2E2D-BB44-AD53536E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3200">
                <a:highlight>
                  <a:srgbClr val="FFFF00"/>
                </a:highlight>
                <a:latin typeface="Adobe Devanagari"/>
                <a:ea typeface="Calibri"/>
                <a:cs typeface="Calibri"/>
              </a:rPr>
              <a:t>An Intelligent IoT and AI-Based Decision Support System for HIV Risk Assessment, Monitoring, and Treatment Optimization</a:t>
            </a:r>
            <a:endParaRPr lang="en-US" sz="3200">
              <a:highlight>
                <a:srgbClr val="FFFF00"/>
              </a:highlight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80392-BA3A-250B-0227-F6BB07BCC9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17948" y="1495416"/>
            <a:ext cx="5372706" cy="421824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1800" b="1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End-to-end integrated system</a:t>
            </a:r>
            <a:r>
              <a:rPr lang="en-US" sz="1800">
                <a:ea typeface="+mn-lt"/>
                <a:cs typeface="+mn-lt"/>
              </a:rPr>
              <a:t> combining:</a:t>
            </a:r>
            <a:endParaRPr lang="en-US" sz="1800">
              <a:ea typeface="Cambria"/>
            </a:endParaRP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HIV risk prediction</a:t>
            </a:r>
            <a:endParaRPr lang="en-US" sz="1800">
              <a:ea typeface="Cambria"/>
            </a:endParaRP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IoT-based real-time health monitoring &amp; portable CD4 estimation</a:t>
            </a:r>
            <a:endParaRPr lang="en-US" sz="1800">
              <a:ea typeface="Cambria"/>
            </a:endParaRP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AI-based treatment optimization</a:t>
            </a:r>
          </a:p>
          <a:p>
            <a:r>
              <a:rPr lang="en-US" sz="1800" b="1">
                <a:ea typeface="+mn-lt"/>
                <a:cs typeface="+mn-lt"/>
              </a:rPr>
              <a:t>Low-cost and portable design</a:t>
            </a:r>
            <a:r>
              <a:rPr lang="en-US" sz="1800">
                <a:ea typeface="+mn-lt"/>
                <a:cs typeface="+mn-lt"/>
              </a:rPr>
              <a:t>, suitable for low-resource settings</a:t>
            </a:r>
          </a:p>
          <a:p>
            <a:r>
              <a:rPr lang="en-US" sz="1800" b="1">
                <a:ea typeface="+mn-lt"/>
                <a:cs typeface="+mn-lt"/>
              </a:rPr>
              <a:t>Continuous monitoring</a:t>
            </a:r>
            <a:r>
              <a:rPr lang="en-US" sz="1800">
                <a:ea typeface="+mn-lt"/>
                <a:cs typeface="+mn-lt"/>
              </a:rPr>
              <a:t> instead of infrequent testing</a:t>
            </a:r>
          </a:p>
          <a:p>
            <a:r>
              <a:rPr lang="en-US" sz="1800">
                <a:ea typeface="+mn-lt"/>
                <a:cs typeface="+mn-lt"/>
              </a:rPr>
              <a:t>Modular and scalable architecture</a:t>
            </a:r>
          </a:p>
          <a:p>
            <a:r>
              <a:rPr lang="en-US" sz="1800">
                <a:ea typeface="+mn-lt"/>
                <a:cs typeface="+mn-lt"/>
              </a:rPr>
              <a:t>Designed to support </a:t>
            </a:r>
            <a:r>
              <a:rPr lang="en-US" sz="1800" b="1">
                <a:ea typeface="+mn-lt"/>
                <a:cs typeface="+mn-lt"/>
              </a:rPr>
              <a:t>clinical decision-making</a:t>
            </a:r>
            <a:r>
              <a:rPr lang="en-US" sz="1800">
                <a:ea typeface="+mn-lt"/>
                <a:cs typeface="+mn-lt"/>
              </a:rPr>
              <a:t>, not replace doctors</a:t>
            </a:r>
            <a:endParaRPr lang="en-US" sz="1800"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31F5A-A5D0-6552-243A-6A2FB190F289}"/>
              </a:ext>
            </a:extLst>
          </p:cNvPr>
          <p:cNvSpPr txBox="1"/>
          <p:nvPr/>
        </p:nvSpPr>
        <p:spPr>
          <a:xfrm>
            <a:off x="5890381" y="1517952"/>
            <a:ext cx="6096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ea typeface="Cambria"/>
            </a:endParaRPr>
          </a:p>
          <a:p>
            <a:pPr marL="285750" indent="-285750">
              <a:buFont typeface="Wingdings"/>
              <a:buChar char="ü"/>
            </a:pPr>
            <a:r>
              <a:rPr lang="en-US" b="1"/>
              <a:t>HIV Patients</a:t>
            </a:r>
            <a:endParaRPr lang="en-US" b="1">
              <a:ea typeface="Cambria"/>
            </a:endParaRPr>
          </a:p>
          <a:p>
            <a:pPr marL="0" lvl="1"/>
            <a:r>
              <a:rPr lang="en-US"/>
              <a:t>  Especially those in rural or remote areas</a:t>
            </a:r>
            <a:endParaRPr lang="en-US">
              <a:ea typeface="Cambria"/>
            </a:endParaRPr>
          </a:p>
          <a:p>
            <a:pPr marL="0" lvl="1"/>
            <a:r>
              <a:rPr lang="en-US"/>
              <a:t>Need affordable, frequent, and accessible monitoring</a:t>
            </a:r>
            <a:br>
              <a:rPr lang="en-US"/>
            </a:br>
            <a:endParaRPr lang="en-US">
              <a:ea typeface="Cambria"/>
            </a:endParaRPr>
          </a:p>
          <a:p>
            <a:pPr marL="228600" indent="-228600">
              <a:buFont typeface="Wingdings"/>
              <a:buChar char="ü"/>
            </a:pPr>
            <a:r>
              <a:rPr lang="en-US" b="1"/>
              <a:t>Doctors &amp; Healthcare Providers</a:t>
            </a:r>
            <a:endParaRPr lang="en-US" b="1">
              <a:ea typeface="Cambria"/>
            </a:endParaRPr>
          </a:p>
          <a:p>
            <a:pPr marL="0" lvl="1"/>
            <a:r>
              <a:rPr lang="en-US"/>
              <a:t>Need continuous, reliable data for better treatment decisions</a:t>
            </a:r>
            <a:br>
              <a:rPr lang="en-US"/>
            </a:br>
            <a:endParaRPr lang="en-US">
              <a:ea typeface="Cambria"/>
            </a:endParaRPr>
          </a:p>
          <a:p>
            <a:pPr marL="228600" indent="-228600">
              <a:buFont typeface="Wingdings"/>
              <a:buChar char="ü"/>
            </a:pPr>
            <a:r>
              <a:rPr lang="en-US" b="1"/>
              <a:t>Hospitals &amp; Clinics</a:t>
            </a:r>
            <a:endParaRPr lang="en-US" b="1">
              <a:ea typeface="Cambria"/>
            </a:endParaRPr>
          </a:p>
          <a:p>
            <a:pPr marL="0" lvl="1"/>
            <a:r>
              <a:rPr lang="en-US"/>
              <a:t>Face resource and infrastructure limitations</a:t>
            </a:r>
            <a:br>
              <a:rPr lang="en-US"/>
            </a:br>
            <a:endParaRPr lang="en-US">
              <a:ea typeface="Cambria"/>
            </a:endParaRPr>
          </a:p>
          <a:p>
            <a:pPr marL="228600" indent="-228600">
              <a:buFont typeface="Wingdings"/>
              <a:buChar char="ü"/>
            </a:pPr>
            <a:r>
              <a:rPr lang="en-US" b="1"/>
              <a:t>Public Health Systems &amp; NGOs</a:t>
            </a:r>
            <a:endParaRPr lang="en-US" b="1">
              <a:ea typeface="Cambria"/>
            </a:endParaRPr>
          </a:p>
          <a:p>
            <a:pPr marL="0" lvl="1"/>
            <a:r>
              <a:rPr lang="en-US"/>
              <a:t>Need scalable, low-cost solutions for HIV care and monitoring</a:t>
            </a:r>
            <a:endParaRPr lang="en-US">
              <a:ea typeface="Cambria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6EBAE-78EB-89E9-D78C-C90C3096EFB3}"/>
              </a:ext>
            </a:extLst>
          </p:cNvPr>
          <p:cNvSpPr txBox="1"/>
          <p:nvPr/>
        </p:nvSpPr>
        <p:spPr>
          <a:xfrm>
            <a:off x="570138" y="1305800"/>
            <a:ext cx="59772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>
                    <a:lumMod val="76000"/>
                  </a:schemeClr>
                </a:solidFill>
                <a:ea typeface="Cambria"/>
              </a:rPr>
              <a:t>Design Excellence of the Overall Solution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C0B1C-6740-729B-E8ED-1A29856E1781}"/>
              </a:ext>
            </a:extLst>
          </p:cNvPr>
          <p:cNvSpPr txBox="1"/>
          <p:nvPr/>
        </p:nvSpPr>
        <p:spPr>
          <a:xfrm>
            <a:off x="5892042" y="1305799"/>
            <a:ext cx="59772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>
                    <a:lumMod val="76000"/>
                  </a:schemeClr>
                </a:solidFill>
                <a:ea typeface="Cambria"/>
              </a:rPr>
              <a:t>Who Has This Problem? (Who Will Benefit)</a:t>
            </a:r>
            <a:endParaRPr lang="en-US" sz="2000">
              <a:solidFill>
                <a:schemeClr val="accent2">
                  <a:lumMod val="76000"/>
                </a:schemeClr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6DB2-B21D-9547-EF25-298D2EFD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2C62-2380-0E31-C503-ACF4F589D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286" y="2717275"/>
            <a:ext cx="9548561" cy="279246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Adobe Devanagari"/>
                <a:ea typeface="Cambria"/>
              </a:rPr>
              <a:t>IoT-Based Physiological Monitoring for HIV Stage Identification (CD4 – Prototype Phase)</a:t>
            </a:r>
            <a:endParaRPr lang="en-US" b="1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500" b="1">
              <a:latin typeface="Calibri"/>
              <a:ea typeface="Cambria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Calibri"/>
                <a:ea typeface="Cambria"/>
              </a:rPr>
              <a:t>Specialization: Data Science              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B8C869-FB94-E953-10A3-429B6576D029}"/>
              </a:ext>
            </a:extLst>
          </p:cNvPr>
          <p:cNvSpPr txBox="1">
            <a:spLocks/>
          </p:cNvSpPr>
          <p:nvPr/>
        </p:nvSpPr>
        <p:spPr>
          <a:xfrm>
            <a:off x="914854" y="1051408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 b="1" cap="all">
                <a:latin typeface="Adobe Devanagari"/>
              </a:rPr>
              <a:t>IT22907066 | Rupasinghe R a D 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42047-E0BD-3F8E-4F95-9F5D734B86F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IT22907066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Rupasinghe R A D N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47BC3EF-1ABB-765B-BCA2-ADA24978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865" y="10365"/>
            <a:ext cx="208597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2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3EC2AEB-A1ED-2C91-A927-BCEB32377C3F}"/>
              </a:ext>
            </a:extLst>
          </p:cNvPr>
          <p:cNvSpPr txBox="1">
            <a:spLocks/>
          </p:cNvSpPr>
          <p:nvPr/>
        </p:nvSpPr>
        <p:spPr>
          <a:xfrm>
            <a:off x="-1448031" y="629877"/>
            <a:ext cx="10363200" cy="353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br>
              <a:rPr lang="en-US" sz="2000" b="1" dirty="0">
                <a:latin typeface="Cambria"/>
              </a:rPr>
            </a:br>
            <a:r>
              <a:rPr lang="en-US" sz="2000" b="1" dirty="0">
                <a:solidFill>
                  <a:srgbClr val="0070C0"/>
                </a:solidFill>
                <a:latin typeface="Cambria"/>
                <a:ea typeface="Cambria"/>
              </a:rPr>
              <a:t>How the Solution will address the Sub-Problem 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C12DD6-0E39-9480-A3CE-725BAE166B9B}"/>
              </a:ext>
            </a:extLst>
          </p:cNvPr>
          <p:cNvSpPr txBox="1">
            <a:spLocks/>
          </p:cNvSpPr>
          <p:nvPr/>
        </p:nvSpPr>
        <p:spPr>
          <a:xfrm>
            <a:off x="912309" y="1264865"/>
            <a:ext cx="10363200" cy="22794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ea typeface="+mn-lt"/>
                <a:cs typeface="+mn-lt"/>
              </a:rPr>
              <a:t>Addresses the challenge of </a:t>
            </a:r>
            <a:r>
              <a:rPr lang="en-US" sz="1800" b="1">
                <a:ea typeface="+mn-lt"/>
                <a:cs typeface="+mn-lt"/>
              </a:rPr>
              <a:t>continuous health monitoring</a:t>
            </a:r>
            <a:r>
              <a:rPr lang="en-US" sz="1800">
                <a:ea typeface="+mn-lt"/>
                <a:cs typeface="+mn-lt"/>
              </a:rPr>
              <a:t> for HIV patients.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Uses an </a:t>
            </a:r>
            <a:r>
              <a:rPr lang="en-US" sz="1800" b="1">
                <a:ea typeface="+mn-lt"/>
                <a:cs typeface="+mn-lt"/>
              </a:rPr>
              <a:t>IoT device</a:t>
            </a:r>
            <a:r>
              <a:rPr lang="en-US" sz="1800">
                <a:ea typeface="+mn-lt"/>
                <a:cs typeface="+mn-lt"/>
              </a:rPr>
              <a:t> to capture real-time physiological parameters: </a:t>
            </a:r>
            <a:r>
              <a:rPr lang="en-US" sz="1800">
                <a:highlight>
                  <a:srgbClr val="FFFF00"/>
                </a:highlight>
                <a:ea typeface="+mn-lt"/>
                <a:cs typeface="+mn-lt"/>
              </a:rPr>
              <a:t>Heart Rate (BPM)Blood Oxygen Saturation (SpO₂), Body Temperature, Patient Movement (activity level)</a:t>
            </a:r>
          </a:p>
          <a:p>
            <a:r>
              <a:rPr lang="en-US" sz="1800">
                <a:ea typeface="+mn-lt"/>
                <a:cs typeface="+mn-lt"/>
              </a:rPr>
              <a:t>These parameters act as </a:t>
            </a:r>
            <a:r>
              <a:rPr lang="en-US" sz="1800" b="1">
                <a:ea typeface="+mn-lt"/>
                <a:cs typeface="+mn-lt"/>
              </a:rPr>
              <a:t>indirect indicators of immune system stress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CD4 Cell Count</a:t>
            </a:r>
            <a:r>
              <a:rPr lang="en-US" sz="1800">
                <a:ea typeface="+mn-lt"/>
                <a:cs typeface="+mn-lt"/>
              </a:rPr>
              <a:t> is planned as a </a:t>
            </a:r>
            <a:r>
              <a:rPr lang="en-US" sz="1800" b="1">
                <a:ea typeface="+mn-lt"/>
                <a:cs typeface="+mn-lt"/>
              </a:rPr>
              <a:t>future module (Coming Soon)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Data is transmitted wirelessly to a </a:t>
            </a:r>
            <a:r>
              <a:rPr lang="en-US" sz="1800" b="1">
                <a:ea typeface="+mn-lt"/>
                <a:cs typeface="+mn-lt"/>
              </a:rPr>
              <a:t>mobile application dashboard</a:t>
            </a:r>
            <a:r>
              <a:rPr lang="en-US" sz="1800">
                <a:ea typeface="+mn-lt"/>
                <a:cs typeface="+mn-lt"/>
              </a:rPr>
              <a:t> for visualization.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The collected data will later support </a:t>
            </a:r>
            <a:r>
              <a:rPr lang="en-US" sz="1800" b="1">
                <a:ea typeface="+mn-lt"/>
                <a:cs typeface="+mn-lt"/>
              </a:rPr>
              <a:t>HIV stage classification (Stage 1, 2, or 3)</a:t>
            </a:r>
            <a:r>
              <a:rPr lang="en-US" sz="1800">
                <a:ea typeface="+mn-lt"/>
                <a:cs typeface="+mn-lt"/>
              </a:rPr>
              <a:t> using ML.</a:t>
            </a:r>
            <a:endParaRPr lang="en-US" sz="1800">
              <a:ea typeface="Cambria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7D2EF6B-A795-918D-8C7A-B018963B56C4}"/>
              </a:ext>
            </a:extLst>
          </p:cNvPr>
          <p:cNvSpPr txBox="1">
            <a:spLocks/>
          </p:cNvSpPr>
          <p:nvPr/>
        </p:nvSpPr>
        <p:spPr>
          <a:xfrm>
            <a:off x="912010" y="3638759"/>
            <a:ext cx="10363200" cy="409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200">
                <a:solidFill>
                  <a:srgbClr val="0070C0"/>
                </a:solidFill>
                <a:latin typeface="Cambria"/>
                <a:ea typeface="Cambria"/>
              </a:rPr>
              <a:t>User Requirements addressed by the solution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49F38BA-E4CE-A416-3533-677B4AE4C9FC}"/>
              </a:ext>
            </a:extLst>
          </p:cNvPr>
          <p:cNvSpPr txBox="1">
            <a:spLocks/>
          </p:cNvSpPr>
          <p:nvPr/>
        </p:nvSpPr>
        <p:spPr>
          <a:xfrm>
            <a:off x="907826" y="4152900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✔ Need for 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non-invasive, continuous monitoring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✔ Real-time access to patient health data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✔ Remote monitoring for doctors and healthcare providers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✔ Easy-to-understand health indicators for patients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✔ Integration capability with future AI/ML models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6577F-734A-5F3A-B8C6-77CCC570B0D2}"/>
              </a:ext>
            </a:extLst>
          </p:cNvPr>
          <p:cNvSpPr txBox="1"/>
          <p:nvPr/>
        </p:nvSpPr>
        <p:spPr>
          <a:xfrm>
            <a:off x="137288" y="156534"/>
            <a:ext cx="120501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IoT-Based Physiological Monitoring for HIV Stage Identification (CD4 – Prototype Phase)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988BEF-36C1-3EB2-C13F-910B780EDBE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IT22907066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Rupasinghe R A D N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3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415BC1-FA25-44FC-4AE7-B62CA48EF05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IT22907066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Rupasinghe R A D N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4AE81BFB-4C67-0E6F-9FF2-9A0A2926FD81}"/>
              </a:ext>
            </a:extLst>
          </p:cNvPr>
          <p:cNvSpPr txBox="1">
            <a:spLocks/>
          </p:cNvSpPr>
          <p:nvPr/>
        </p:nvSpPr>
        <p:spPr>
          <a:xfrm>
            <a:off x="-2362289" y="588611"/>
            <a:ext cx="10363200" cy="61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  <a:latin typeface="Cambria"/>
                <a:ea typeface="Cambria"/>
              </a:rPr>
              <a:t>Design Excellence/Contribution</a:t>
            </a:r>
            <a:endParaRPr lang="en-US" sz="2000" b="1">
              <a:solidFill>
                <a:srgbClr val="0070C0"/>
              </a:solidFill>
              <a:latin typeface="Cambria"/>
              <a:ea typeface="Cambria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735C10D-B983-70B4-08DF-923BF1C056C3}"/>
              </a:ext>
            </a:extLst>
          </p:cNvPr>
          <p:cNvSpPr txBox="1">
            <a:spLocks/>
          </p:cNvSpPr>
          <p:nvPr/>
        </p:nvSpPr>
        <p:spPr>
          <a:xfrm>
            <a:off x="984796" y="1194030"/>
            <a:ext cx="10363200" cy="174113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ea typeface="+mn-lt"/>
                <a:cs typeface="+mn-lt"/>
              </a:rPr>
              <a:t>Modular IoT architecture allowing </a:t>
            </a:r>
            <a:r>
              <a:rPr lang="en-US" sz="1800" b="1">
                <a:ea typeface="+mn-lt"/>
                <a:cs typeface="+mn-lt"/>
              </a:rPr>
              <a:t>easy sensor expansion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Real-time data updates using </a:t>
            </a:r>
            <a:r>
              <a:rPr lang="en-US" sz="1800" b="1">
                <a:ea typeface="+mn-lt"/>
                <a:cs typeface="+mn-lt"/>
              </a:rPr>
              <a:t>local IoT network</a:t>
            </a:r>
            <a:endParaRPr lang="en-US" sz="1800" b="1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Low-cost hardware design suitable for </a:t>
            </a:r>
            <a:r>
              <a:rPr lang="en-US" sz="1800" b="1">
                <a:ea typeface="+mn-lt"/>
                <a:cs typeface="+mn-lt"/>
              </a:rPr>
              <a:t>resource-limited settings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Seamless integration with </a:t>
            </a:r>
            <a:r>
              <a:rPr lang="en-US" sz="1800" b="1">
                <a:ea typeface="+mn-lt"/>
                <a:cs typeface="+mn-lt"/>
              </a:rPr>
              <a:t>mobile application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Designed to support </a:t>
            </a:r>
            <a:r>
              <a:rPr lang="en-US" sz="1800" b="1">
                <a:ea typeface="+mn-lt"/>
                <a:cs typeface="+mn-lt"/>
              </a:rPr>
              <a:t>future CD4 estimation + ML-based HIV stage detection</a:t>
            </a:r>
            <a:endParaRPr lang="en-US" sz="1800"/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34F25B67-23B2-2387-51F8-FC8835C24FD8}"/>
              </a:ext>
            </a:extLst>
          </p:cNvPr>
          <p:cNvSpPr txBox="1">
            <a:spLocks/>
          </p:cNvSpPr>
          <p:nvPr/>
        </p:nvSpPr>
        <p:spPr>
          <a:xfrm>
            <a:off x="1006668" y="3081214"/>
            <a:ext cx="10363200" cy="45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100">
                <a:solidFill>
                  <a:srgbClr val="0070C0"/>
                </a:solidFill>
                <a:latin typeface="Cambria"/>
                <a:ea typeface="Cambria"/>
              </a:rPr>
              <a:t>User Feedback on Prototype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B4CA9E5-3087-FAB0-8C02-605C61314C19}"/>
              </a:ext>
            </a:extLst>
          </p:cNvPr>
          <p:cNvSpPr txBox="1">
            <a:spLocks/>
          </p:cNvSpPr>
          <p:nvPr/>
        </p:nvSpPr>
        <p:spPr>
          <a:xfrm>
            <a:off x="986738" y="3564821"/>
            <a:ext cx="10373693" cy="270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Patients found the system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easy to use and non-intrusive</a:t>
            </a:r>
            <a:endParaRPr lang="en-US" sz="160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Doctors appreciated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real-time vitals visibility</a:t>
            </a:r>
            <a:endParaRPr lang="en-US" sz="1600">
              <a:solidFill>
                <a:schemeClr val="tx1"/>
              </a:solidFill>
              <a:ea typeface="Cambri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Positive feedback on:</a:t>
            </a:r>
            <a:endParaRPr lang="en-US" sz="1600">
              <a:solidFill>
                <a:schemeClr val="tx1"/>
              </a:solidFill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Live heart rate &amp; temperature updates</a:t>
            </a:r>
            <a:endParaRPr lang="en-US" sz="1400">
              <a:solidFill>
                <a:schemeClr val="tx1"/>
              </a:solidFill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Simple mobile dashboard interface</a:t>
            </a:r>
            <a:endParaRPr lang="en-US" sz="1400">
              <a:solidFill>
                <a:schemeClr val="tx1"/>
              </a:solidFill>
              <a:ea typeface="Cambri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Suggested improvements:</a:t>
            </a:r>
            <a:endParaRPr lang="en-US" sz="1600">
              <a:solidFill>
                <a:schemeClr val="tx1"/>
              </a:solidFill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Direct CD4 count integration</a:t>
            </a:r>
            <a:endParaRPr lang="en-US" sz="1400">
              <a:solidFill>
                <a:schemeClr val="tx1"/>
              </a:solidFill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Cloud data storage for long-term tracking</a:t>
            </a:r>
            <a:endParaRPr lang="en-US" sz="1400">
              <a:solidFill>
                <a:schemeClr val="tx1"/>
              </a:solidFill>
              <a:ea typeface="Cambri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Feedback validated the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feasibility and usefulness</a:t>
            </a: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 of the prototype</a:t>
            </a:r>
            <a:endParaRPr lang="en-US" sz="160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7BE8A7-4725-E6A4-785F-62E1FF55A645}"/>
              </a:ext>
            </a:extLst>
          </p:cNvPr>
          <p:cNvSpPr txBox="1"/>
          <p:nvPr/>
        </p:nvSpPr>
        <p:spPr>
          <a:xfrm>
            <a:off x="182112" y="156534"/>
            <a:ext cx="12005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IoT-Based Physiological Monitoring for HIV Stage Identification (CD4 – Prototype Phase)</a:t>
            </a:r>
            <a:endParaRPr lang="en-US"/>
          </a:p>
        </p:txBody>
      </p:sp>
      <p:pic>
        <p:nvPicPr>
          <p:cNvPr id="26" name="Picture 25" descr="Smallest Heart Rate Monitor - GPS Tracking Device Watch">
            <a:extLst>
              <a:ext uri="{FF2B5EF4-FFF2-40B4-BE49-F238E27FC236}">
                <a16:creationId xmlns:a16="http://schemas.microsoft.com/office/drawing/2014/main" id="{1527174E-D3DE-FAC9-2025-194EB857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094" y="515309"/>
            <a:ext cx="2538174" cy="25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96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667E-D01C-5C1B-0638-17FFEDF92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286" y="2717275"/>
            <a:ext cx="9548561" cy="279246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Calibri"/>
                <a:ea typeface="Cambria"/>
              </a:rPr>
              <a:t>HIV Behavioral Risk Identification and Personalized Intervention Sequencing for Risk Reduction</a:t>
            </a:r>
            <a:br>
              <a:rPr lang="en-US" sz="2500" b="1">
                <a:latin typeface="Calibri"/>
                <a:ea typeface="Cambria"/>
              </a:rPr>
            </a:br>
            <a:endParaRPr lang="en-US" sz="2500" b="1">
              <a:latin typeface="Calibri"/>
              <a:ea typeface="Cambria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500" b="1">
              <a:latin typeface="Calibri"/>
              <a:ea typeface="Cambria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Calibri"/>
                <a:ea typeface="Cambria"/>
              </a:rPr>
              <a:t>Specialization: Data Science</a:t>
            </a:r>
            <a:endParaRPr lang="en-US" sz="2500" b="1">
              <a:latin typeface="Calibri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765B8DF-0230-6EFC-9C46-E6BD574C8062}"/>
              </a:ext>
            </a:extLst>
          </p:cNvPr>
          <p:cNvSpPr txBox="1">
            <a:spLocks/>
          </p:cNvSpPr>
          <p:nvPr/>
        </p:nvSpPr>
        <p:spPr>
          <a:xfrm>
            <a:off x="1260135" y="142645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 b="1" cap="all">
                <a:latin typeface="Adobe Devanagari"/>
              </a:rPr>
              <a:t>IT22585530 | </a:t>
            </a:r>
            <a:r>
              <a:rPr lang="en-US" b="1" cap="all" err="1">
                <a:latin typeface="Adobe Devanagari"/>
              </a:rPr>
              <a:t>Thrimanna</a:t>
            </a:r>
            <a:r>
              <a:rPr lang="en-US" b="1" cap="all">
                <a:latin typeface="Adobe Devanagari"/>
              </a:rPr>
              <a:t> a</a:t>
            </a:r>
          </a:p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EE43E0-13C8-557D-B907-3CC2D374F6C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IT22585530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THRIMANNA 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0" name="Picture 9" descr="A person smiling in front of a christmas tree&#10;&#10;AI-generated content may be incorrect.">
            <a:extLst>
              <a:ext uri="{FF2B5EF4-FFF2-40B4-BE49-F238E27FC236}">
                <a16:creationId xmlns:a16="http://schemas.microsoft.com/office/drawing/2014/main" id="{14088E9F-4009-F2B6-08EF-562B2C734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205" y="124959"/>
            <a:ext cx="2446181" cy="259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3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4">
            <a:extLst>
              <a:ext uri="{FF2B5EF4-FFF2-40B4-BE49-F238E27FC236}">
                <a16:creationId xmlns:a16="http://schemas.microsoft.com/office/drawing/2014/main" id="{FFCFC45C-CE6F-0717-AA31-4FDACEDA2DBF}"/>
              </a:ext>
            </a:extLst>
          </p:cNvPr>
          <p:cNvSpPr txBox="1">
            <a:spLocks/>
          </p:cNvSpPr>
          <p:nvPr/>
        </p:nvSpPr>
        <p:spPr>
          <a:xfrm>
            <a:off x="914400" y="1066800"/>
            <a:ext cx="10363200" cy="155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br>
              <a:rPr lang="en-US"/>
            </a:b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0AAD085-DB3D-CAE4-AAFE-8C40A16F2402}"/>
              </a:ext>
            </a:extLst>
          </p:cNvPr>
          <p:cNvSpPr txBox="1">
            <a:spLocks/>
          </p:cNvSpPr>
          <p:nvPr/>
        </p:nvSpPr>
        <p:spPr>
          <a:xfrm>
            <a:off x="234510" y="154291"/>
            <a:ext cx="11451635" cy="37456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000" b="1">
                <a:ea typeface="+mn-lt"/>
                <a:cs typeface="+mn-lt"/>
              </a:rPr>
              <a:t>HIV Behavioral Risk Identification and Personalized Intervention Sequencing for Risk Reduction</a:t>
            </a:r>
            <a:br>
              <a:rPr lang="en-US" sz="2000" b="1">
                <a:ea typeface="+mn-lt"/>
                <a:cs typeface="+mn-lt"/>
              </a:rPr>
            </a:br>
            <a:br>
              <a:rPr lang="en-US" sz="2000" b="1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</a:pPr>
            <a:endParaRPr lang="en-US" sz="2100">
              <a:ea typeface="Cambria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88F7823-D23B-8FB6-D1BF-73CE90480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68086"/>
              </p:ext>
            </p:extLst>
          </p:nvPr>
        </p:nvGraphicFramePr>
        <p:xfrm>
          <a:off x="237923" y="1089979"/>
          <a:ext cx="5088994" cy="5249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497">
                  <a:extLst>
                    <a:ext uri="{9D8B030D-6E8A-4147-A177-3AD203B41FA5}">
                      <a16:colId xmlns:a16="http://schemas.microsoft.com/office/drawing/2014/main" val="2231836538"/>
                    </a:ext>
                  </a:extLst>
                </a:gridCol>
                <a:gridCol w="2544497">
                  <a:extLst>
                    <a:ext uri="{9D8B030D-6E8A-4147-A177-3AD203B41FA5}">
                      <a16:colId xmlns:a16="http://schemas.microsoft.com/office/drawing/2014/main" val="2712089723"/>
                    </a:ext>
                  </a:extLst>
                </a:gridCol>
              </a:tblGrid>
              <a:tr h="6240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Existing Prevention Tools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Our Behavioral Sequencing Approach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516"/>
                  </a:ext>
                </a:extLst>
              </a:tr>
              <a:tr h="11589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Same recommendations for everyone at same risk level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Different sequencing plans for individuals with identical risk levels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167187"/>
                  </a:ext>
                </a:extLst>
              </a:tr>
              <a:tr h="6240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No Personalized Recommendation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AI-driven personalized risk reduction roadmap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898368"/>
                  </a:ext>
                </a:extLst>
              </a:tr>
              <a:tr h="8914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No Time-based Sequencing plan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</a:rPr>
                        <a:t>Weekly based sequenced intervention phases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297511"/>
                  </a:ext>
                </a:extLst>
              </a:tr>
              <a:tr h="6775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</a:rPr>
                        <a:t>One-time static recommendations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</a:rPr>
                        <a:t>Progressive, Step-by-Step Risk Reduction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52166"/>
                  </a:ext>
                </a:extLst>
              </a:tr>
              <a:tr h="11589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</a:rPr>
                        <a:t>Generic for everyone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</a:rPr>
                        <a:t>Will be Available in English, Sinhala, Tamil language intervention plan in the next phase</a:t>
                      </a:r>
                      <a:endParaRPr lang="en-US" sz="1800" b="0" i="0" u="none" strike="noStrike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909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A26B38F-6866-1946-7D2B-B47103114A19}"/>
              </a:ext>
            </a:extLst>
          </p:cNvPr>
          <p:cNvSpPr txBox="1"/>
          <p:nvPr/>
        </p:nvSpPr>
        <p:spPr>
          <a:xfrm>
            <a:off x="234204" y="654567"/>
            <a:ext cx="50755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>
                    <a:lumMod val="76000"/>
                  </a:schemeClr>
                </a:solidFill>
                <a:ea typeface="Cambria"/>
              </a:rPr>
              <a:t>How</a:t>
            </a:r>
            <a:r>
              <a:rPr lang="en-US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the Solution Addresses the Sub-Problem</a:t>
            </a:r>
            <a:endParaRPr lang="en-US" b="1">
              <a:solidFill>
                <a:schemeClr val="accent1">
                  <a:lumMod val="76000"/>
                </a:schemeClr>
              </a:solidFill>
              <a:ea typeface="Cambri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634964-D796-4AD2-5D3D-A6D148D702C7}"/>
              </a:ext>
            </a:extLst>
          </p:cNvPr>
          <p:cNvSpPr txBox="1"/>
          <p:nvPr/>
        </p:nvSpPr>
        <p:spPr>
          <a:xfrm>
            <a:off x="6530024" y="617282"/>
            <a:ext cx="39519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>
                    <a:lumMod val="76000"/>
                  </a:schemeClr>
                </a:solidFill>
                <a:ea typeface="Cambria"/>
              </a:rPr>
              <a:t> User Requirements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D8EE067-72BD-7FD7-C048-467140E4531B}"/>
              </a:ext>
            </a:extLst>
          </p:cNvPr>
          <p:cNvSpPr/>
          <p:nvPr/>
        </p:nvSpPr>
        <p:spPr>
          <a:xfrm>
            <a:off x="5529150" y="1058131"/>
            <a:ext cx="6161174" cy="96896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7030A0"/>
                </a:solidFill>
                <a:ea typeface="Cambria"/>
              </a:rPr>
              <a:t>Requirement 1</a:t>
            </a:r>
            <a:r>
              <a:rPr lang="en-US" b="1">
                <a:solidFill>
                  <a:srgbClr val="073763"/>
                </a:solidFill>
                <a:ea typeface="Cambria"/>
              </a:rPr>
              <a:t>: Clear starting point for correct behaviors</a:t>
            </a:r>
            <a:endParaRPr lang="en-US">
              <a:solidFill>
                <a:srgbClr val="000000"/>
              </a:solidFill>
              <a:ea typeface="Cambria"/>
            </a:endParaRPr>
          </a:p>
          <a:p>
            <a:pPr algn="ctr"/>
            <a:r>
              <a:rPr lang="en-US" sz="1200" b="1">
                <a:solidFill>
                  <a:srgbClr val="0F1115"/>
                </a:solidFill>
                <a:highlight>
                  <a:srgbClr val="FFFFFF"/>
                </a:highlight>
                <a:ea typeface="Cambria"/>
              </a:rPr>
              <a:t>✅</a:t>
            </a:r>
            <a:r>
              <a:rPr lang="en-US" b="1">
                <a:solidFill>
                  <a:srgbClr val="073763"/>
                </a:solidFill>
                <a:ea typeface="Cambria"/>
              </a:rPr>
              <a:t> 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mbria"/>
              </a:rPr>
              <a:t>Feature</a:t>
            </a:r>
            <a:r>
              <a:rPr lang="en-US" b="1">
                <a:solidFill>
                  <a:srgbClr val="073763"/>
                </a:solidFill>
                <a:ea typeface="Cambria"/>
              </a:rPr>
              <a:t>: Clear weekly phased roadmap</a:t>
            </a:r>
            <a:endParaRPr lang="en-US">
              <a:solidFill>
                <a:srgbClr val="000000"/>
              </a:solidFill>
              <a:ea typeface="Cambria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0B79A8E-E99F-EFC6-3DE5-045F7723998B}"/>
              </a:ext>
            </a:extLst>
          </p:cNvPr>
          <p:cNvSpPr/>
          <p:nvPr/>
        </p:nvSpPr>
        <p:spPr>
          <a:xfrm>
            <a:off x="5529149" y="2104267"/>
            <a:ext cx="6161174" cy="115752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7030A0"/>
                </a:solidFill>
                <a:ea typeface="Cambria"/>
              </a:rPr>
              <a:t>Requirement  2</a:t>
            </a:r>
            <a:r>
              <a:rPr lang="en-US" b="1">
                <a:solidFill>
                  <a:srgbClr val="073763"/>
                </a:solidFill>
                <a:ea typeface="Cambria"/>
              </a:rPr>
              <a:t>: Personalized, relevant recommendations based on their individual behaviors</a:t>
            </a:r>
            <a:br>
              <a:rPr lang="en-US" b="1">
                <a:solidFill>
                  <a:srgbClr val="073763"/>
                </a:solidFill>
                <a:ea typeface="Cambria"/>
              </a:rPr>
            </a:br>
            <a:r>
              <a:rPr lang="en-US" sz="1200" b="1">
                <a:solidFill>
                  <a:srgbClr val="0F1115"/>
                </a:solidFill>
                <a:highlight>
                  <a:srgbClr val="FFFFFF"/>
                </a:highlight>
                <a:ea typeface="Cambria"/>
              </a:rPr>
              <a:t>✅ 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mbria"/>
              </a:rPr>
              <a:t>Feature</a:t>
            </a:r>
            <a:r>
              <a:rPr lang="en-US" b="1">
                <a:solidFill>
                  <a:srgbClr val="073763"/>
                </a:solidFill>
                <a:ea typeface="Cambria"/>
              </a:rPr>
              <a:t>: Personalized Behavioral intervention</a:t>
            </a:r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C9AF9C-A6C3-6CC9-D36E-E740AC4DFB25}"/>
              </a:ext>
            </a:extLst>
          </p:cNvPr>
          <p:cNvSpPr/>
          <p:nvPr/>
        </p:nvSpPr>
        <p:spPr>
          <a:xfrm>
            <a:off x="5529148" y="3382877"/>
            <a:ext cx="6161174" cy="93796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7030A0"/>
                </a:solidFill>
                <a:ea typeface="Cambria"/>
              </a:rPr>
              <a:t>Requirement  3</a:t>
            </a:r>
            <a:r>
              <a:rPr lang="en-US" b="1">
                <a:solidFill>
                  <a:srgbClr val="073763"/>
                </a:solidFill>
                <a:ea typeface="Cambria"/>
              </a:rPr>
              <a:t>: Motivation Support</a:t>
            </a:r>
            <a:endParaRPr lang="en-US">
              <a:solidFill>
                <a:srgbClr val="000000"/>
              </a:solidFill>
              <a:ea typeface="Cambria"/>
            </a:endParaRPr>
          </a:p>
          <a:p>
            <a:pPr algn="ctr"/>
            <a:r>
              <a:rPr lang="en-US" sz="1200" b="1">
                <a:solidFill>
                  <a:srgbClr val="0F1115"/>
                </a:solidFill>
                <a:highlight>
                  <a:srgbClr val="FFFFFF"/>
                </a:highlight>
                <a:ea typeface="Cambria"/>
              </a:rPr>
              <a:t>✅</a:t>
            </a:r>
            <a:r>
              <a:rPr lang="en-US" b="1">
                <a:solidFill>
                  <a:srgbClr val="073763"/>
                </a:solidFill>
                <a:ea typeface="Cambria"/>
              </a:rPr>
              <a:t> 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mbria"/>
              </a:rPr>
              <a:t>Feature</a:t>
            </a:r>
            <a:r>
              <a:rPr lang="en-US" b="1">
                <a:solidFill>
                  <a:srgbClr val="073763"/>
                </a:solidFill>
                <a:ea typeface="Cambria"/>
              </a:rPr>
              <a:t>: Progress tracking visualization dashboard</a:t>
            </a:r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651E273-E187-732C-390E-55E6DB262E7E}"/>
              </a:ext>
            </a:extLst>
          </p:cNvPr>
          <p:cNvSpPr/>
          <p:nvPr/>
        </p:nvSpPr>
        <p:spPr>
          <a:xfrm>
            <a:off x="5529147" y="4454841"/>
            <a:ext cx="6161174" cy="93796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7030A0"/>
                </a:solidFill>
                <a:ea typeface="Cambria"/>
              </a:rPr>
              <a:t>Requirement 4</a:t>
            </a:r>
            <a:r>
              <a:rPr lang="en-US" b="1">
                <a:solidFill>
                  <a:srgbClr val="073763"/>
                </a:solidFill>
                <a:ea typeface="Cambria"/>
              </a:rPr>
              <a:t> : Progress measurement</a:t>
            </a:r>
            <a:endParaRPr lang="en-US">
              <a:solidFill>
                <a:srgbClr val="000000"/>
              </a:solidFill>
              <a:ea typeface="Cambria"/>
            </a:endParaRPr>
          </a:p>
          <a:p>
            <a:r>
              <a:rPr lang="en-US" sz="1200" b="1">
                <a:solidFill>
                  <a:srgbClr val="0F1115"/>
                </a:solidFill>
                <a:highlight>
                  <a:srgbClr val="FFFFFF"/>
                </a:highlight>
                <a:ea typeface="Cambria"/>
              </a:rPr>
              <a:t>                                 ✅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mbria"/>
              </a:rPr>
              <a:t>Feature</a:t>
            </a:r>
            <a:r>
              <a:rPr lang="en-US" b="1">
                <a:solidFill>
                  <a:srgbClr val="073763"/>
                </a:solidFill>
                <a:ea typeface="Cambria"/>
              </a:rPr>
              <a:t>: Risk trend timeline</a:t>
            </a:r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3EF7A5-E7AD-E9E9-577B-31C07B3EAAD8}"/>
              </a:ext>
            </a:extLst>
          </p:cNvPr>
          <p:cNvSpPr/>
          <p:nvPr/>
        </p:nvSpPr>
        <p:spPr>
          <a:xfrm>
            <a:off x="5529146" y="5526807"/>
            <a:ext cx="6161174" cy="93796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7030A0"/>
                </a:solidFill>
                <a:ea typeface="Cambria"/>
              </a:rPr>
              <a:t>Requirement  5</a:t>
            </a:r>
            <a:r>
              <a:rPr lang="en-US" b="1">
                <a:solidFill>
                  <a:srgbClr val="073763"/>
                </a:solidFill>
                <a:ea typeface="Cambria"/>
              </a:rPr>
              <a:t>: </a:t>
            </a:r>
            <a:r>
              <a:rPr lang="en-US" b="1">
                <a:solidFill>
                  <a:srgbClr val="073763"/>
                </a:solidFill>
                <a:ea typeface="+mn-lt"/>
                <a:cs typeface="+mn-lt"/>
              </a:rPr>
              <a:t>Fit into daily routine</a:t>
            </a:r>
            <a:endParaRPr lang="en-US">
              <a:ea typeface="Cambria"/>
            </a:endParaRPr>
          </a:p>
          <a:p>
            <a:pPr algn="ctr"/>
            <a:r>
              <a:rPr lang="en-US" sz="1200" b="1">
                <a:solidFill>
                  <a:srgbClr val="0F1115"/>
                </a:solidFill>
                <a:highlight>
                  <a:srgbClr val="FFFFFF"/>
                </a:highlight>
                <a:ea typeface="Cambria"/>
              </a:rPr>
              <a:t>✅</a:t>
            </a:r>
            <a:r>
              <a:rPr lang="en-US" b="1">
                <a:solidFill>
                  <a:srgbClr val="073763"/>
                </a:solidFill>
                <a:ea typeface="Cambria"/>
              </a:rPr>
              <a:t> 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mbria"/>
              </a:rPr>
              <a:t>Feature</a:t>
            </a:r>
            <a:r>
              <a:rPr lang="en-US" b="1">
                <a:solidFill>
                  <a:srgbClr val="073763"/>
                </a:solidFill>
                <a:ea typeface="Cambria"/>
              </a:rPr>
              <a:t>: </a:t>
            </a:r>
            <a:r>
              <a:rPr lang="en-US" b="1">
                <a:solidFill>
                  <a:srgbClr val="073763"/>
                </a:solidFill>
                <a:ea typeface="+mn-lt"/>
                <a:cs typeface="+mn-lt"/>
              </a:rPr>
              <a:t>Simple weekly action steps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3DEE6-020F-478B-7B9D-FF3CE358DF8E}"/>
              </a:ext>
            </a:extLst>
          </p:cNvPr>
          <p:cNvSpPr txBox="1"/>
          <p:nvPr/>
        </p:nvSpPr>
        <p:spPr>
          <a:xfrm>
            <a:off x="2914952" y="650119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</a:rPr>
              <a:t>IT22585530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mbria"/>
              </a:rPr>
              <a:t>  THRIMANNA A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</a:rPr>
              <a:t> 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mbria"/>
              </a:rPr>
              <a:t>| 25-26J-147</a:t>
            </a:r>
            <a:r>
              <a:rPr sz="1800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D8248525-25B4-9514-E039-ED8DE96B9D2B}"/>
              </a:ext>
            </a:extLst>
          </p:cNvPr>
          <p:cNvSpPr txBox="1"/>
          <p:nvPr/>
        </p:nvSpPr>
        <p:spPr>
          <a:xfrm>
            <a:off x="316582" y="156534"/>
            <a:ext cx="1156829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Cambria"/>
              </a:rPr>
              <a:t>HIV Behavioral Risk Identification and Personalized Intervention Sequencing for Risk Reduction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CF38FC-027A-E8C0-F9BD-0B3B2733713B}"/>
              </a:ext>
            </a:extLst>
          </p:cNvPr>
          <p:cNvSpPr txBox="1"/>
          <p:nvPr/>
        </p:nvSpPr>
        <p:spPr>
          <a:xfrm>
            <a:off x="468085" y="694897"/>
            <a:ext cx="561786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7030A0"/>
                </a:solidFill>
                <a:highlight>
                  <a:srgbClr val="FFFFFF"/>
                </a:highlight>
              </a:rPr>
              <a:t>Design Excellence &amp; Technical Contribution</a:t>
            </a:r>
            <a:endParaRPr lang="en-US" sz="1600" b="1">
              <a:solidFill>
                <a:srgbClr val="7030A0"/>
              </a:solidFill>
              <a:ea typeface="Cambria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3691D57-C2C4-9958-BFC6-092E21F75589}"/>
              </a:ext>
            </a:extLst>
          </p:cNvPr>
          <p:cNvSpPr/>
          <p:nvPr/>
        </p:nvSpPr>
        <p:spPr>
          <a:xfrm>
            <a:off x="1981374" y="1346921"/>
            <a:ext cx="844254" cy="34172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0A8734-274E-68F0-B616-1B58234FE4D6}"/>
              </a:ext>
            </a:extLst>
          </p:cNvPr>
          <p:cNvSpPr txBox="1"/>
          <p:nvPr/>
        </p:nvSpPr>
        <p:spPr>
          <a:xfrm>
            <a:off x="418928" y="1352915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Frontend</a:t>
            </a:r>
            <a:endParaRPr lang="en-US" sz="16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A225B3-734D-9A63-F913-20A5EEDEB29F}"/>
              </a:ext>
            </a:extLst>
          </p:cNvPr>
          <p:cNvSpPr txBox="1"/>
          <p:nvPr/>
        </p:nvSpPr>
        <p:spPr>
          <a:xfrm>
            <a:off x="3179379" y="1216208"/>
            <a:ext cx="30407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React Native (</a:t>
            </a:r>
            <a:r>
              <a:rPr lang="en-US" sz="1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simple, guided user flow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en-US" sz="1600" b="1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866DA716-E05E-FE49-5C04-BDAD26B61659}"/>
              </a:ext>
            </a:extLst>
          </p:cNvPr>
          <p:cNvSpPr/>
          <p:nvPr/>
        </p:nvSpPr>
        <p:spPr>
          <a:xfrm>
            <a:off x="1995751" y="2008279"/>
            <a:ext cx="844254" cy="34172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908FD0-1424-BB76-07B9-04BF036C7ECF}"/>
              </a:ext>
            </a:extLst>
          </p:cNvPr>
          <p:cNvSpPr txBox="1"/>
          <p:nvPr/>
        </p:nvSpPr>
        <p:spPr>
          <a:xfrm>
            <a:off x="433305" y="2014273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Backend</a:t>
            </a:r>
            <a:endParaRPr lang="en-US" sz="1600">
              <a:ea typeface="Cambri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5A8796-7F1E-FB2E-C548-5C988235F5AE}"/>
              </a:ext>
            </a:extLst>
          </p:cNvPr>
          <p:cNvSpPr txBox="1"/>
          <p:nvPr/>
        </p:nvSpPr>
        <p:spPr>
          <a:xfrm>
            <a:off x="3179379" y="1962612"/>
            <a:ext cx="31414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FastAPI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(</a:t>
            </a:r>
            <a:r>
              <a:rPr lang="en-US" sz="1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for assessment &amp; planning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en-US" sz="1600" b="1">
              <a:solidFill>
                <a:srgbClr val="0F1115"/>
              </a:solidFill>
              <a:highlight>
                <a:srgbClr val="FFFFFF"/>
              </a:highlight>
              <a:ea typeface="Cambria"/>
            </a:endParaRP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841B9218-E07C-A1C2-E894-BCA701E3375C}"/>
              </a:ext>
            </a:extLst>
          </p:cNvPr>
          <p:cNvSpPr/>
          <p:nvPr/>
        </p:nvSpPr>
        <p:spPr>
          <a:xfrm>
            <a:off x="2010128" y="2698392"/>
            <a:ext cx="844254" cy="34172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9101A0-9F63-190C-A488-56927F61B69F}"/>
              </a:ext>
            </a:extLst>
          </p:cNvPr>
          <p:cNvSpPr txBox="1"/>
          <p:nvPr/>
        </p:nvSpPr>
        <p:spPr>
          <a:xfrm>
            <a:off x="447682" y="2704386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Database</a:t>
            </a:r>
            <a:endParaRPr lang="en-US" sz="16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D72358-1BBD-535D-2A2D-07C4151C97B0}"/>
              </a:ext>
            </a:extLst>
          </p:cNvPr>
          <p:cNvSpPr txBox="1"/>
          <p:nvPr/>
        </p:nvSpPr>
        <p:spPr>
          <a:xfrm>
            <a:off x="3193756" y="2690007"/>
            <a:ext cx="31989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Firebase </a:t>
            </a:r>
            <a:r>
              <a:rPr lang="en-US" sz="1600" b="1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Firestore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(</a:t>
            </a:r>
            <a:r>
              <a:rPr lang="en-US" sz="1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stores user history &amp; progress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en-US" sz="1600" b="1" err="1">
              <a:solidFill>
                <a:srgbClr val="0F1115"/>
              </a:solidFill>
              <a:highlight>
                <a:srgbClr val="FFFFFF"/>
              </a:highlight>
              <a:ea typeface="Cambria"/>
            </a:endParaRP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F45CECDD-403C-752B-589B-0ABDB451935A}"/>
              </a:ext>
            </a:extLst>
          </p:cNvPr>
          <p:cNvSpPr/>
          <p:nvPr/>
        </p:nvSpPr>
        <p:spPr>
          <a:xfrm>
            <a:off x="2010127" y="3379731"/>
            <a:ext cx="844254" cy="34172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8E4893-A418-6028-7E94-6C53D62A6082}"/>
              </a:ext>
            </a:extLst>
          </p:cNvPr>
          <p:cNvSpPr txBox="1"/>
          <p:nvPr/>
        </p:nvSpPr>
        <p:spPr>
          <a:xfrm>
            <a:off x="102626" y="3385725"/>
            <a:ext cx="19049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Infrastructure</a:t>
            </a:r>
            <a:endParaRPr lang="en-US" sz="16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A3A2FB-91AF-80D7-3C9A-C007860AE2A1}"/>
              </a:ext>
            </a:extLst>
          </p:cNvPr>
          <p:cNvSpPr txBox="1"/>
          <p:nvPr/>
        </p:nvSpPr>
        <p:spPr>
          <a:xfrm>
            <a:off x="3193756" y="3371347"/>
            <a:ext cx="29832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Ngrok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Tunneling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(</a:t>
            </a:r>
            <a:r>
              <a:rPr lang="en-US" sz="1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Secure External Access</a:t>
            </a:r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en-US" sz="1600">
              <a:ea typeface="Cambri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CCB804-8D42-EF6F-CF92-D1498F6F9D55}"/>
              </a:ext>
            </a:extLst>
          </p:cNvPr>
          <p:cNvSpPr txBox="1"/>
          <p:nvPr/>
        </p:nvSpPr>
        <p:spPr>
          <a:xfrm>
            <a:off x="532417" y="4075038"/>
            <a:ext cx="63669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7030A0"/>
                </a:solidFill>
                <a:highlight>
                  <a:srgbClr val="FFFFFF"/>
                </a:highlight>
              </a:rPr>
              <a:t>Strengths </a:t>
            </a:r>
            <a:r>
              <a:rPr lang="en-US" sz="1600" b="1">
                <a:solidFill>
                  <a:srgbClr val="7030A0"/>
                </a:solidFill>
                <a:highlight>
                  <a:srgbClr val="FFFFFF"/>
                </a:highlight>
                <a:ea typeface="+mn-lt"/>
                <a:cs typeface="+mn-lt"/>
              </a:rPr>
              <a:t>and user Feedback on Prototyp</a:t>
            </a:r>
            <a:r>
              <a:rPr lang="en-US" sz="1600">
                <a:solidFill>
                  <a:srgbClr val="7030A0"/>
                </a:solidFill>
                <a:highlight>
                  <a:srgbClr val="FFFFFF"/>
                </a:highlight>
                <a:ea typeface="+mn-lt"/>
                <a:cs typeface="+mn-lt"/>
              </a:rPr>
              <a:t>e</a:t>
            </a:r>
            <a:endParaRPr lang="en-US" sz="1600">
              <a:solidFill>
                <a:srgbClr val="0F1115"/>
              </a:solidFill>
              <a:highlight>
                <a:srgbClr val="FFFFFF"/>
              </a:highlight>
              <a:ea typeface="Cambri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C83BA0-497D-8DA5-DA0F-327D351B58EA}"/>
              </a:ext>
            </a:extLst>
          </p:cNvPr>
          <p:cNvSpPr txBox="1"/>
          <p:nvPr/>
        </p:nvSpPr>
        <p:spPr>
          <a:xfrm>
            <a:off x="448056" y="4624343"/>
            <a:ext cx="581149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latin typeface="Cambria"/>
                <a:ea typeface="+mn-lt"/>
                <a:cs typeface="+mn-lt"/>
              </a:rPr>
              <a:t>Output is easy to understand and useful</a:t>
            </a:r>
            <a:b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latin typeface="Cambria"/>
                <a:ea typeface="+mn-lt"/>
                <a:cs typeface="+mn-lt"/>
              </a:rPr>
            </a:br>
            <a:endParaRPr lang="en-US" sz="1600" b="1">
              <a:solidFill>
                <a:schemeClr val="tx2">
                  <a:lumMod val="76000"/>
                </a:schemeClr>
              </a:solidFill>
              <a:latin typeface="Cambr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latin typeface="Cambria"/>
                <a:ea typeface="+mn-lt"/>
                <a:cs typeface="+mn-lt"/>
              </a:rPr>
              <a:t>Personalized weekly action plan is clear and  best fit into daily routine</a:t>
            </a:r>
            <a:b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latin typeface="Cambria"/>
                <a:ea typeface="+mn-lt"/>
                <a:cs typeface="+mn-lt"/>
              </a:rPr>
            </a:br>
            <a:endParaRPr lang="en-US" sz="1600" b="1">
              <a:solidFill>
                <a:schemeClr val="tx2">
                  <a:lumMod val="76000"/>
                </a:schemeClr>
              </a:solidFill>
              <a:latin typeface="Cambr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latin typeface="Cambria"/>
                <a:ea typeface="+mn-lt"/>
                <a:cs typeface="+mn-lt"/>
              </a:rPr>
              <a:t>Step-by-step intervention flow is easy to follow</a:t>
            </a:r>
            <a:endParaRPr lang="en-US" sz="1600" b="1">
              <a:solidFill>
                <a:schemeClr val="tx2">
                  <a:lumMod val="76000"/>
                </a:schemeClr>
              </a:solidFill>
              <a:latin typeface="Cambria"/>
              <a:ea typeface="+mn-lt"/>
              <a:cs typeface="+mn-lt"/>
            </a:endParaRPr>
          </a:p>
          <a:p>
            <a:endParaRPr lang="en-US" sz="1600" b="1">
              <a:solidFill>
                <a:schemeClr val="tx2">
                  <a:lumMod val="76000"/>
                </a:schemeClr>
              </a:solidFill>
              <a:highlight>
                <a:srgbClr val="FFFFFF"/>
              </a:highlight>
              <a:ea typeface="Cambria"/>
            </a:endParaRPr>
          </a:p>
          <a:p>
            <a:endParaRPr lang="en-US" sz="1600" b="1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57259DE-6AEB-FF1D-9B5F-1FD6228C0873}"/>
              </a:ext>
            </a:extLst>
          </p:cNvPr>
          <p:cNvSpPr txBox="1"/>
          <p:nvPr/>
        </p:nvSpPr>
        <p:spPr>
          <a:xfrm>
            <a:off x="6110369" y="4621182"/>
            <a:ext cx="59953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ea typeface="Cambria"/>
              </a:rPr>
              <a:t>Progress via the risk trend visualization is effective</a:t>
            </a:r>
            <a:br>
              <a:rPr lang="en-US" sz="1600" b="1">
                <a:highlight>
                  <a:srgbClr val="FFFFFF"/>
                </a:highlight>
                <a:ea typeface="Cambria"/>
              </a:rPr>
            </a:br>
            <a:endParaRPr lang="en-US" sz="1600" b="1">
              <a:solidFill>
                <a:schemeClr val="tx2">
                  <a:lumMod val="76000"/>
                </a:schemeClr>
              </a:solidFill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b="1">
                <a:solidFill>
                  <a:schemeClr val="tx2">
                    <a:lumMod val="76000"/>
                  </a:schemeClr>
                </a:solidFill>
                <a:highlight>
                  <a:srgbClr val="FFFFFF"/>
                </a:highlight>
                <a:ea typeface="Cambria"/>
              </a:rPr>
              <a:t>Will implement multi-language support </a:t>
            </a:r>
            <a:endParaRPr lang="en-US" sz="1600">
              <a:solidFill>
                <a:schemeClr val="tx2">
                  <a:lumMod val="76000"/>
                </a:schemeClr>
              </a:solidFill>
              <a:ea typeface="Cambria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E308F411-C70B-13F0-E29F-A24B73FC558A}"/>
              </a:ext>
            </a:extLst>
          </p:cNvPr>
          <p:cNvSpPr/>
          <p:nvPr/>
        </p:nvSpPr>
        <p:spPr>
          <a:xfrm>
            <a:off x="7964058" y="1287460"/>
            <a:ext cx="844254" cy="34172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3264E8-39E4-77E7-B460-324B769D0506}"/>
              </a:ext>
            </a:extLst>
          </p:cNvPr>
          <p:cNvSpPr txBox="1"/>
          <p:nvPr/>
        </p:nvSpPr>
        <p:spPr>
          <a:xfrm>
            <a:off x="6301947" y="1280539"/>
            <a:ext cx="19049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Algorithm</a:t>
            </a:r>
            <a:endParaRPr lang="en-US" sz="16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033DDE-33B3-57A0-2392-2B3B6E6F8B89}"/>
              </a:ext>
            </a:extLst>
          </p:cNvPr>
          <p:cNvSpPr txBox="1"/>
          <p:nvPr/>
        </p:nvSpPr>
        <p:spPr>
          <a:xfrm>
            <a:off x="8979789" y="1279076"/>
            <a:ext cx="29832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AI-driven – personalized intervention sequencing</a:t>
            </a:r>
            <a:endParaRPr lang="en-US" sz="1600" b="1">
              <a:ea typeface="Cambria"/>
            </a:endParaRP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22021752-4381-F948-9284-564970372023}"/>
              </a:ext>
            </a:extLst>
          </p:cNvPr>
          <p:cNvSpPr/>
          <p:nvPr/>
        </p:nvSpPr>
        <p:spPr>
          <a:xfrm>
            <a:off x="7938230" y="1988052"/>
            <a:ext cx="844254" cy="34172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69BD25-CC47-09E4-48D2-93FCAB3011AB}"/>
              </a:ext>
            </a:extLst>
          </p:cNvPr>
          <p:cNvSpPr txBox="1"/>
          <p:nvPr/>
        </p:nvSpPr>
        <p:spPr>
          <a:xfrm>
            <a:off x="6337038" y="1994046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Dashboard</a:t>
            </a:r>
            <a:endParaRPr lang="en-US" sz="16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9D6853-5276-1BB5-CB8E-A6188B9C8A84}"/>
              </a:ext>
            </a:extLst>
          </p:cNvPr>
          <p:cNvSpPr txBox="1"/>
          <p:nvPr/>
        </p:nvSpPr>
        <p:spPr>
          <a:xfrm>
            <a:off x="8992705" y="1928006"/>
            <a:ext cx="31989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Live tracking – visual risk trends &amp; progress</a:t>
            </a:r>
            <a:endParaRPr lang="en-US" sz="1600" b="1">
              <a:ea typeface="+mn-lt"/>
              <a:cs typeface="+mn-lt"/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91284A53-5688-18C2-0B3B-25E0A9D68B72}"/>
              </a:ext>
            </a:extLst>
          </p:cNvPr>
          <p:cNvSpPr/>
          <p:nvPr/>
        </p:nvSpPr>
        <p:spPr>
          <a:xfrm>
            <a:off x="7936768" y="2718617"/>
            <a:ext cx="844254" cy="34172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6F225E-7085-060E-970C-E15B87011592}"/>
              </a:ext>
            </a:extLst>
          </p:cNvPr>
          <p:cNvSpPr txBox="1"/>
          <p:nvPr/>
        </p:nvSpPr>
        <p:spPr>
          <a:xfrm>
            <a:off x="6296830" y="2711696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Languages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C693A4-0DF3-02E6-76B9-62993DC29E48}"/>
              </a:ext>
            </a:extLst>
          </p:cNvPr>
          <p:cNvSpPr txBox="1"/>
          <p:nvPr/>
        </p:nvSpPr>
        <p:spPr>
          <a:xfrm>
            <a:off x="9055819" y="2660035"/>
            <a:ext cx="31414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English, Sinhala, Tamil – multi-language plans</a:t>
            </a:r>
            <a:endParaRPr lang="en-US" sz="1600" b="1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1509A804-72E5-147A-7FDD-F80D7DB926D5}"/>
              </a:ext>
            </a:extLst>
          </p:cNvPr>
          <p:cNvSpPr/>
          <p:nvPr/>
        </p:nvSpPr>
        <p:spPr>
          <a:xfrm>
            <a:off x="7948221" y="3452106"/>
            <a:ext cx="844254" cy="34172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8BA346-EA9B-A400-2DB1-1B6DC0FE5C2A}"/>
              </a:ext>
            </a:extLst>
          </p:cNvPr>
          <p:cNvSpPr txBox="1"/>
          <p:nvPr/>
        </p:nvSpPr>
        <p:spPr>
          <a:xfrm>
            <a:off x="6321199" y="3458101"/>
            <a:ext cx="15311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Architecture</a:t>
            </a:r>
            <a:endParaRPr lang="en-US" sz="1600" b="1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94BAA7E-40BB-DE1B-C8F9-E97164811AFF}"/>
              </a:ext>
            </a:extLst>
          </p:cNvPr>
          <p:cNvSpPr txBox="1"/>
          <p:nvPr/>
        </p:nvSpPr>
        <p:spPr>
          <a:xfrm>
            <a:off x="9068734" y="3424715"/>
            <a:ext cx="304078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Scalable and maintainable</a:t>
            </a:r>
            <a:endParaRPr lang="en-US" sz="16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C4527B-28F8-C554-6595-251EE0F8A0A6}"/>
              </a:ext>
            </a:extLst>
          </p:cNvPr>
          <p:cNvSpPr txBox="1"/>
          <p:nvPr/>
        </p:nvSpPr>
        <p:spPr>
          <a:xfrm>
            <a:off x="3060095" y="6477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</a:rPr>
              <a:t>IT22585530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mbria"/>
              </a:rPr>
              <a:t>  THRIMANNA A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</a:rPr>
              <a:t> 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mbria"/>
              </a:rPr>
              <a:t>| 25-26J-147</a:t>
            </a:r>
            <a:r>
              <a:rPr sz="1800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7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1CEA-8B32-2679-286E-353D4BD1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22A7-A807-E274-90AB-DB30F93D6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286" y="2717275"/>
            <a:ext cx="9548561" cy="279246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Adobe Devanagari"/>
                <a:ea typeface="Cambria"/>
              </a:rPr>
              <a:t>Machine Learning-Based Predictive Framework for HIV Drug Resistance and Personalized Treatment Optimization System</a:t>
            </a:r>
            <a:br>
              <a:rPr lang="en-US" sz="2500" b="1">
                <a:latin typeface="Calibri"/>
                <a:ea typeface="Cambria"/>
              </a:rPr>
            </a:br>
            <a:endParaRPr lang="en-US" sz="2500" b="1">
              <a:latin typeface="Calibri"/>
              <a:ea typeface="Cambria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500" b="1">
              <a:latin typeface="Calibri"/>
              <a:ea typeface="Cambria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500" b="1">
                <a:latin typeface="Calibri"/>
                <a:ea typeface="Cambria"/>
              </a:rPr>
              <a:t>Specialization: Data Science              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3CC442E-181A-D10F-A76F-F31311148100}"/>
              </a:ext>
            </a:extLst>
          </p:cNvPr>
          <p:cNvSpPr txBox="1">
            <a:spLocks/>
          </p:cNvSpPr>
          <p:nvPr/>
        </p:nvSpPr>
        <p:spPr>
          <a:xfrm>
            <a:off x="1260135" y="142645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 b="1" cap="all">
                <a:latin typeface="Adobe Devanagari"/>
              </a:rPr>
              <a:t>IT22577610 | Jayarathna J V D</a:t>
            </a:r>
          </a:p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0F442-20BF-E6C4-4D8C-BE640C0572D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IT22577610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Jayarathna J V D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3" name="Picture 2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C7FDD1AD-F917-792B-6C64-76229320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865" y="-3922"/>
            <a:ext cx="20859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2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36ADB-7B5B-C52F-5224-E3A9439BC38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IT22577610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Jayarathna J V D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6" name="Title 4">
            <a:extLst>
              <a:ext uri="{FF2B5EF4-FFF2-40B4-BE49-F238E27FC236}">
                <a16:creationId xmlns:a16="http://schemas.microsoft.com/office/drawing/2014/main" id="{59293ED1-E7E0-CB22-4A11-7C3DF66B1E9D}"/>
              </a:ext>
            </a:extLst>
          </p:cNvPr>
          <p:cNvSpPr txBox="1">
            <a:spLocks/>
          </p:cNvSpPr>
          <p:nvPr/>
        </p:nvSpPr>
        <p:spPr>
          <a:xfrm>
            <a:off x="910540" y="738735"/>
            <a:ext cx="6444343" cy="3535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br>
              <a:rPr lang="en-US" dirty="0"/>
            </a:br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FB3E3A8-C4ED-1ED6-0E13-1F3DF19D5677}"/>
              </a:ext>
            </a:extLst>
          </p:cNvPr>
          <p:cNvSpPr txBox="1">
            <a:spLocks/>
          </p:cNvSpPr>
          <p:nvPr/>
        </p:nvSpPr>
        <p:spPr>
          <a:xfrm>
            <a:off x="918262" y="1288677"/>
            <a:ext cx="10363200" cy="175270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 Identifies HIV drug resistance early using Machine Learning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Reduces delay in treatment decisions (no need to wait weeks for lab tests)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Predicts whether current treatment will fail or succeed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Provides real-time results through a mobile application</a:t>
            </a:r>
          </a:p>
          <a:p>
            <a:endParaRPr lang="en-US" sz="2000" dirty="0">
              <a:solidFill>
                <a:srgbClr val="898989"/>
              </a:solidFill>
              <a:ea typeface="Cambria"/>
              <a:cs typeface="+mn-lt"/>
            </a:endParaRPr>
          </a:p>
        </p:txBody>
      </p:sp>
      <p:sp>
        <p:nvSpPr>
          <p:cNvPr id="30" name="Title 4">
            <a:extLst>
              <a:ext uri="{FF2B5EF4-FFF2-40B4-BE49-F238E27FC236}">
                <a16:creationId xmlns:a16="http://schemas.microsoft.com/office/drawing/2014/main" id="{8623BF93-F37C-5AB0-07EE-3C64B3CFA140}"/>
              </a:ext>
            </a:extLst>
          </p:cNvPr>
          <p:cNvSpPr txBox="1">
            <a:spLocks/>
          </p:cNvSpPr>
          <p:nvPr/>
        </p:nvSpPr>
        <p:spPr>
          <a:xfrm>
            <a:off x="906057" y="3025588"/>
            <a:ext cx="10363200" cy="409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200">
                <a:solidFill>
                  <a:srgbClr val="0070C0"/>
                </a:solidFill>
                <a:latin typeface="Cambria"/>
                <a:ea typeface="Cambria"/>
              </a:rPr>
              <a:t>User Requirements addressed by the solution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453FCC3-2258-EB20-6F4F-3CD78B934BFE}"/>
              </a:ext>
            </a:extLst>
          </p:cNvPr>
          <p:cNvSpPr txBox="1">
            <a:spLocks/>
          </p:cNvSpPr>
          <p:nvPr/>
        </p:nvSpPr>
        <p:spPr>
          <a:xfrm>
            <a:off x="913779" y="3581401"/>
            <a:ext cx="10363200" cy="25392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Fast predictions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results in seconds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High accuracy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reliable ML models used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Easy to use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simple interface for clinicians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Explainable results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shows why a prediction was made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Cost-effective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reduces expensive resistance testing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 Secure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protects patient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8FF62-6DE5-DED1-3C60-E75D99751B94}"/>
              </a:ext>
            </a:extLst>
          </p:cNvPr>
          <p:cNvSpPr txBox="1"/>
          <p:nvPr/>
        </p:nvSpPr>
        <p:spPr>
          <a:xfrm>
            <a:off x="137288" y="156534"/>
            <a:ext cx="12050147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>
                <a:ea typeface="+mn-lt"/>
                <a:cs typeface="+mn-lt"/>
              </a:rPr>
              <a:t>Machine Learning-Based Predictive Framework for HIV Drug Resistance and Personalized Treatment Optimization System</a:t>
            </a:r>
            <a:endParaRPr lang="en-US" sz="1650" b="1">
              <a:ea typeface="Cambr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3E137C-FD79-D986-5163-B9B2FD4D71BB}"/>
              </a:ext>
            </a:extLst>
          </p:cNvPr>
          <p:cNvSpPr txBox="1"/>
          <p:nvPr/>
        </p:nvSpPr>
        <p:spPr>
          <a:xfrm>
            <a:off x="921070" y="667895"/>
            <a:ext cx="6878445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cap="all" dirty="0">
                <a:solidFill>
                  <a:srgbClr val="0070C0"/>
                </a:solidFill>
                <a:ea typeface="Cambria"/>
              </a:rPr>
              <a:t>How the Solution will address the Sub-Problem </a:t>
            </a:r>
            <a:br>
              <a:rPr lang="en-US" sz="2000" b="1" cap="all" dirty="0">
                <a:solidFill>
                  <a:srgbClr val="0070C0"/>
                </a:solidFill>
                <a:ea typeface="Cambria"/>
              </a:rPr>
            </a:br>
            <a:endParaRPr lang="en-US" sz="3600">
              <a:ea typeface="+mn-lt"/>
              <a:cs typeface="+mn-lt"/>
            </a:endParaRPr>
          </a:p>
          <a:p>
            <a:pPr algn="l"/>
            <a:endParaRPr lang="en-US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573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2A25D3-83B2-EF92-B71C-F83B849E204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IT22577610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Jayarathna J V D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25-26J-147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0151BDA-C396-F53B-0384-2E0AFF3A2F18}"/>
              </a:ext>
            </a:extLst>
          </p:cNvPr>
          <p:cNvSpPr txBox="1">
            <a:spLocks/>
          </p:cNvSpPr>
          <p:nvPr/>
        </p:nvSpPr>
        <p:spPr>
          <a:xfrm>
            <a:off x="721997" y="673278"/>
            <a:ext cx="4327676" cy="550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  <a:latin typeface="Cambria"/>
                <a:ea typeface="Cambria"/>
              </a:rPr>
              <a:t>Design Excellence/Contribution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39AC2FA-A299-7CEF-35DA-2DA36CD23B5D}"/>
              </a:ext>
            </a:extLst>
          </p:cNvPr>
          <p:cNvSpPr txBox="1">
            <a:spLocks/>
          </p:cNvSpPr>
          <p:nvPr/>
        </p:nvSpPr>
        <p:spPr>
          <a:xfrm>
            <a:off x="996702" y="1221442"/>
            <a:ext cx="10363200" cy="220307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 Used Ensemble Machine Learning for better performance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Integrated medical knowledge into feature engineering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Prevented overfitting using proper validation techniques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Designed an interpretable model, not a black box</a:t>
            </a:r>
            <a:endParaRPr lang="en-US" sz="2000" dirty="0">
              <a:ea typeface="Cambria"/>
            </a:endParaRPr>
          </a:p>
          <a:p>
            <a:r>
              <a:rPr lang="en-US" sz="2000" dirty="0">
                <a:ea typeface="+mn-lt"/>
                <a:cs typeface="+mn-lt"/>
              </a:rPr>
              <a:t> Connected ML model with a real-world mobile system</a:t>
            </a:r>
            <a:endParaRPr lang="en-US" sz="2000" dirty="0">
              <a:ea typeface="Cambria"/>
            </a:endParaRPr>
          </a:p>
          <a:p>
            <a:endParaRPr lang="en-US" sz="2000" dirty="0">
              <a:ea typeface="Cambria"/>
            </a:endParaRP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C257C6FC-E1E9-7C2A-4DDA-606CD75F2C5C}"/>
              </a:ext>
            </a:extLst>
          </p:cNvPr>
          <p:cNvSpPr txBox="1">
            <a:spLocks/>
          </p:cNvSpPr>
          <p:nvPr/>
        </p:nvSpPr>
        <p:spPr>
          <a:xfrm>
            <a:off x="995704" y="3316941"/>
            <a:ext cx="10363200" cy="45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100">
                <a:solidFill>
                  <a:srgbClr val="0070C0"/>
                </a:solidFill>
                <a:latin typeface="Cambria"/>
                <a:ea typeface="Cambria"/>
              </a:rPr>
              <a:t>User Feedback on Prototype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B59DD11-6EF5-86FE-3E1D-ECCE1DCF3386}"/>
              </a:ext>
            </a:extLst>
          </p:cNvPr>
          <p:cNvSpPr txBox="1">
            <a:spLocks/>
          </p:cNvSpPr>
          <p:nvPr/>
        </p:nvSpPr>
        <p:spPr>
          <a:xfrm>
            <a:off x="992220" y="3921135"/>
            <a:ext cx="10363200" cy="212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Clinicians found the system easy and fast to use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Early resistance detection helped improve patient outcomes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Explanation of predictions increased trust in the system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Reduced unnecessary laboratory testing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Useful for complex HIV treatment cases</a:t>
            </a:r>
            <a:endParaRPr lang="en-US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F309C-6054-D441-7713-4F0F0A279907}"/>
              </a:ext>
            </a:extLst>
          </p:cNvPr>
          <p:cNvSpPr txBox="1"/>
          <p:nvPr/>
        </p:nvSpPr>
        <p:spPr>
          <a:xfrm>
            <a:off x="182112" y="156534"/>
            <a:ext cx="12005322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>
                <a:ea typeface="+mn-lt"/>
                <a:cs typeface="+mn-lt"/>
              </a:rPr>
              <a:t>Machine Learning-Based Predictive Framework for HIV Drug Resistance and Personalized Treatment Optimization System</a:t>
            </a:r>
            <a:endParaRPr lang="en-US" sz="1650" b="1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5440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4E352-E95B-6896-7776-0BF5F44C7DDA}"/>
              </a:ext>
            </a:extLst>
          </p:cNvPr>
          <p:cNvSpPr txBox="1"/>
          <p:nvPr/>
        </p:nvSpPr>
        <p:spPr>
          <a:xfrm>
            <a:off x="74706" y="156534"/>
            <a:ext cx="1211579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Calibri"/>
                <a:cs typeface="Calibri"/>
              </a:rPr>
              <a:t>End-to-end predictive and prescriptive system for HIV: integrated risk assessment, early detection, and treatment  optimization</a:t>
            </a:r>
            <a:endParaRPr lang="en-US" sz="2000">
              <a:latin typeface="Cambria"/>
              <a:ea typeface="Cambria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85A86-BBEB-5E09-65A3-886144669C00}"/>
              </a:ext>
            </a:extLst>
          </p:cNvPr>
          <p:cNvSpPr txBox="1"/>
          <p:nvPr/>
        </p:nvSpPr>
        <p:spPr>
          <a:xfrm>
            <a:off x="1133660" y="4566332"/>
            <a:ext cx="1035445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Portable CD4 estimation concept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End-to-end system: </a:t>
            </a:r>
            <a:r>
              <a:rPr lang="en-US" b="1">
                <a:latin typeface="Times New Roman"/>
                <a:cs typeface="Times New Roman"/>
              </a:rPr>
              <a:t>Risk → Monitoring → Treatment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Designed for </a:t>
            </a:r>
            <a:r>
              <a:rPr lang="en-US" b="1">
                <a:latin typeface="Times New Roman"/>
                <a:cs typeface="Times New Roman"/>
              </a:rPr>
              <a:t>low-resource and rural settings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Continuous monitoring instead of infrequent testing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Scalable, modular, and future-ready</a:t>
            </a:r>
            <a:endParaRPr lang="en-US"/>
          </a:p>
          <a:p>
            <a:pPr algn="ctr"/>
            <a:br>
              <a:rPr lang="en-US"/>
            </a:br>
            <a:endParaRPr lang="en-US"/>
          </a:p>
          <a:p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387CA-5D50-CF32-3694-BA84911230C8}"/>
              </a:ext>
            </a:extLst>
          </p:cNvPr>
          <p:cNvSpPr txBox="1"/>
          <p:nvPr/>
        </p:nvSpPr>
        <p:spPr>
          <a:xfrm>
            <a:off x="827619" y="863167"/>
            <a:ext cx="63818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cap="all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Commercialization Model</a:t>
            </a:r>
            <a:endParaRPr lang="en-US" sz="2000">
              <a:solidFill>
                <a:schemeClr val="accent2">
                  <a:lumMod val="76000"/>
                </a:schemeClr>
              </a:solidFill>
              <a:ea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243DC-3F14-AA6F-619B-F87686D0F0CE}"/>
              </a:ext>
            </a:extLst>
          </p:cNvPr>
          <p:cNvSpPr txBox="1"/>
          <p:nvPr/>
        </p:nvSpPr>
        <p:spPr>
          <a:xfrm>
            <a:off x="982180" y="1262271"/>
            <a:ext cx="10221361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Times New Roman"/>
              </a:rPr>
              <a:t>IoT Device</a:t>
            </a:r>
            <a:endParaRPr lang="en-US" sz="1900">
              <a:solidFill>
                <a:schemeClr val="accent1"/>
              </a:solidFill>
              <a:latin typeface="Calibri"/>
              <a:ea typeface="Calibri"/>
              <a:cs typeface="Times New Roman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Times New Roman"/>
              </a:rPr>
              <a:t>Market price (existing devices): </a:t>
            </a:r>
            <a:r>
              <a:rPr lang="en-US" b="1">
                <a:latin typeface="Calibri"/>
                <a:ea typeface="Calibri"/>
                <a:cs typeface="Times New Roman"/>
              </a:rPr>
              <a:t>Rs. 15,000–25,000</a:t>
            </a:r>
            <a:endParaRPr lang="en-US">
              <a:latin typeface="Calibri"/>
              <a:ea typeface="Calibri"/>
              <a:cs typeface="Times New Roman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b="1">
                <a:latin typeface="Calibri"/>
                <a:ea typeface="Calibri"/>
                <a:cs typeface="Times New Roman"/>
              </a:rPr>
              <a:t>Our device cost:</a:t>
            </a:r>
            <a:r>
              <a:rPr lang="en-US">
                <a:latin typeface="Calibri"/>
                <a:ea typeface="Calibri"/>
                <a:cs typeface="Times New Roman"/>
              </a:rPr>
              <a:t> ~</a:t>
            </a:r>
            <a:r>
              <a:rPr lang="en-US" b="1">
                <a:latin typeface="Calibri"/>
                <a:ea typeface="Calibri"/>
                <a:cs typeface="Times New Roman"/>
              </a:rPr>
              <a:t>Rs. 5,000</a:t>
            </a:r>
            <a:endParaRPr lang="en-US">
              <a:latin typeface="Calibri"/>
              <a:ea typeface="Calibri"/>
              <a:cs typeface="Times New Roman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b="1">
                <a:latin typeface="Calibri"/>
                <a:ea typeface="Calibri"/>
                <a:cs typeface="Times New Roman"/>
              </a:rPr>
              <a:t>Selling price:</a:t>
            </a:r>
            <a:r>
              <a:rPr lang="en-US">
                <a:latin typeface="Calibri"/>
                <a:ea typeface="Calibri"/>
                <a:cs typeface="Times New Roman"/>
              </a:rPr>
              <a:t> </a:t>
            </a:r>
            <a:r>
              <a:rPr lang="en-US" b="1">
                <a:latin typeface="Calibri"/>
                <a:ea typeface="Calibri"/>
                <a:cs typeface="Times New Roman"/>
              </a:rPr>
              <a:t>Rs. 10,000–12,000</a:t>
            </a:r>
            <a:endParaRPr lang="en-US">
              <a:latin typeface="Calibri"/>
              <a:ea typeface="Calibri"/>
              <a:cs typeface="Times New Roman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Times New Roman"/>
              </a:rPr>
              <a:t>Affordable + strong profit margin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As of </a:t>
            </a:r>
            <a:r>
              <a:rPr lang="en-US" b="1">
                <a:ea typeface="+mn-lt"/>
                <a:cs typeface="+mn-lt"/>
              </a:rPr>
              <a:t>2024–2025</a:t>
            </a:r>
            <a:r>
              <a:rPr lang="en-US">
                <a:ea typeface="+mn-lt"/>
                <a:cs typeface="+mn-lt"/>
              </a:rPr>
              <a:t>, there are an estimated </a:t>
            </a:r>
            <a:r>
              <a:rPr lang="en-US" b="1">
                <a:ea typeface="+mn-lt"/>
                <a:cs typeface="+mn-lt"/>
              </a:rPr>
              <a:t>~40.8 million people worldwide</a:t>
            </a:r>
            <a:r>
              <a:rPr lang="en-US">
                <a:ea typeface="+mn-lt"/>
                <a:cs typeface="+mn-lt"/>
              </a:rPr>
              <a:t> living with HIV</a:t>
            </a:r>
            <a:br>
              <a:rPr lang="en-US">
                <a:latin typeface="Calibri"/>
                <a:ea typeface="Calibri"/>
                <a:cs typeface="Times New Roman"/>
              </a:rPr>
            </a:br>
            <a:endParaRPr lang="en-US">
              <a:latin typeface="Calibri"/>
              <a:ea typeface="Calibri"/>
              <a:cs typeface="Times New Roman"/>
            </a:endParaRPr>
          </a:p>
          <a:p>
            <a: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Times New Roman"/>
              </a:rPr>
              <a:t>Mobile Application</a:t>
            </a:r>
            <a:endParaRPr lang="en-US" sz="1900">
              <a:solidFill>
                <a:schemeClr val="accent1"/>
              </a:solidFill>
              <a:latin typeface="Calibri"/>
              <a:ea typeface="Calibri"/>
              <a:cs typeface="Times New Roman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Times New Roman"/>
              </a:rPr>
              <a:t>Subscription-based model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Times New Roman"/>
              </a:rPr>
              <a:t>This is </a:t>
            </a:r>
            <a:r>
              <a:rPr lang="en-US" b="1">
                <a:latin typeface="Calibri"/>
                <a:ea typeface="Calibri"/>
                <a:cs typeface="Times New Roman"/>
              </a:rPr>
              <a:t>life-critical</a:t>
            </a:r>
            <a:r>
              <a:rPr lang="en-US">
                <a:latin typeface="Calibri"/>
                <a:ea typeface="Calibri"/>
                <a:cs typeface="Times New Roman"/>
              </a:rPr>
              <a:t>, not an optional app → high willingness to subscribe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02C4A-FB48-B5E1-C0C5-6A5117872869}"/>
              </a:ext>
            </a:extLst>
          </p:cNvPr>
          <p:cNvSpPr txBox="1"/>
          <p:nvPr/>
        </p:nvSpPr>
        <p:spPr>
          <a:xfrm>
            <a:off x="827618" y="4172259"/>
            <a:ext cx="63818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cap="all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What Makes Our Solution Unique</a:t>
            </a:r>
            <a:endParaRPr lang="en-US" sz="2000">
              <a:solidFill>
                <a:schemeClr val="accent2">
                  <a:lumMod val="76000"/>
                </a:schemeClr>
              </a:solidFill>
              <a:latin typeface="Times New Roman"/>
              <a:ea typeface="Cambri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7751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310B84-C8A2-4B9C-89AE-9E97C91E71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DAF88E-D15F-430F-8C37-1B87B04C7EDA}">
  <ds:schemaRefs>
    <ds:schemaRef ds:uri="http://schemas.microsoft.com/office/2006/metadata/properties"/>
    <ds:schemaRef ds:uri="http://schemas.microsoft.com/office/infopath/2007/PartnerControls"/>
    <ds:schemaRef ds:uri="b315195e-671e-423b-bef2-4f1205612242"/>
    <ds:schemaRef ds:uri="db72c12f-87a4-44ab-bbc5-4cc8306b158a"/>
  </ds:schemaRefs>
</ds:datastoreItem>
</file>

<file path=customXml/itemProps3.xml><?xml version="1.0" encoding="utf-8"?>
<ds:datastoreItem xmlns:ds="http://schemas.openxmlformats.org/officeDocument/2006/customXml" ds:itemID="{A2FD2F59-F761-48AE-BA1C-E60D4A4371E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End-to-end predictive and prescriptive system for HIV: integrated risk assessment, early detection, and treatment optimization</vt:lpstr>
      <vt:lpstr>An Intelligent IoT and AI-Based Decision Support System for HIV Risk Assessment, Monitoring, and Treatment Optimization</vt:lpstr>
      <vt:lpstr>IoT-Based Physiological Monitoring for HIV Stage Identification (CD4 – Prototype Phase)  Specialization: Data Science              </vt:lpstr>
      <vt:lpstr>PowerPoint Presentation</vt:lpstr>
      <vt:lpstr>PowerPoint Presentation</vt:lpstr>
      <vt:lpstr>HIV Behavioral Risk Identification and Personalized Intervention Sequencing for Risk Reduction   Specialization: Data Science</vt:lpstr>
      <vt:lpstr>PowerPoint Presentation</vt:lpstr>
      <vt:lpstr>PowerPoint Presentation</vt:lpstr>
      <vt:lpstr>Machine Learning-Based Predictive Framework for HIV Drug Resistance and Personalized Treatment Optimization System   Specialization: Data Science           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revision>69</cp:revision>
  <dcterms:created xsi:type="dcterms:W3CDTF">2025-08-25T09:34:25Z</dcterms:created>
  <dcterms:modified xsi:type="dcterms:W3CDTF">2026-04-26T07:10:00Z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