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6" r:id="rId5"/>
    <p:sldId id="324" r:id="rId6"/>
    <p:sldId id="327" r:id="rId7"/>
    <p:sldId id="328" r:id="rId8"/>
    <p:sldId id="329" r:id="rId9"/>
    <p:sldId id="330" r:id="rId10"/>
    <p:sldId id="331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3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0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545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2"/>
          <p:cNvSpPr/>
          <p:nvPr/>
        </p:nvSpPr>
        <p:spPr>
          <a:xfrm rot="5400000">
            <a:off x="-133800" y="9659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2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body" idx="1"/>
          </p:nvPr>
        </p:nvSpPr>
        <p:spPr>
          <a:xfrm>
            <a:off x="6096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2"/>
          </p:nvPr>
        </p:nvSpPr>
        <p:spPr>
          <a:xfrm>
            <a:off x="43870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3"/>
          </p:nvPr>
        </p:nvSpPr>
        <p:spPr>
          <a:xfrm>
            <a:off x="8164400" y="2661000"/>
            <a:ext cx="3418000" cy="3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▸"/>
              <a:defRPr sz="2133"/>
            </a:lvl1pPr>
            <a:lvl2pPr marL="1219170" lvl="1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2pPr>
            <a:lvl3pPr marL="1828754" lvl="2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3pPr>
            <a:lvl4pPr marL="2438339" lvl="3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4pPr>
            <a:lvl5pPr marL="3047924" lvl="4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5pPr>
            <a:lvl6pPr marL="3657509" lvl="5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6pPr>
            <a:lvl7pPr marL="4267093" lvl="6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7pPr>
            <a:lvl8pPr marL="4876678" lvl="7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8pPr>
            <a:lvl9pPr marL="5486263" lvl="8" indent="-440256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600"/>
              <a:buChar char="▹"/>
              <a:defRPr sz="2133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5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4/26/2026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  <p:sldLayoutId id="2147483665" r:id="rId16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8D42-BD81-DE02-6D3C-0EF04AA7B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386" y="1529276"/>
            <a:ext cx="10354228" cy="2529447"/>
          </a:xfrm>
        </p:spPr>
        <p:txBody>
          <a:bodyPr/>
          <a:lstStyle/>
          <a:p>
            <a:r>
              <a:rPr lang="en-US" b="1" dirty="0">
                <a:latin typeface="Calibri "/>
              </a:rPr>
              <a:t>IoT and AI Based Decision Support System for HIV: Integrated Risk Assessment, Monitoring, and Treatment Optimization</a:t>
            </a:r>
          </a:p>
        </p:txBody>
      </p:sp>
      <p:cxnSp>
        <p:nvCxnSpPr>
          <p:cNvPr id="4" name="Google Shape;33;p1">
            <a:extLst>
              <a:ext uri="{FF2B5EF4-FFF2-40B4-BE49-F238E27FC236}">
                <a16:creationId xmlns:a16="http://schemas.microsoft.com/office/drawing/2014/main" id="{13485588-B225-997E-524A-E43B166179FE}"/>
              </a:ext>
            </a:extLst>
          </p:cNvPr>
          <p:cNvCxnSpPr/>
          <p:nvPr/>
        </p:nvCxnSpPr>
        <p:spPr>
          <a:xfrm>
            <a:off x="1282099" y="3743476"/>
            <a:ext cx="9492340" cy="0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659B6CB-267E-689E-61A0-195E4799D2F4}"/>
              </a:ext>
            </a:extLst>
          </p:cNvPr>
          <p:cNvSpPr txBox="1"/>
          <p:nvPr/>
        </p:nvSpPr>
        <p:spPr>
          <a:xfrm>
            <a:off x="1221619" y="4082143"/>
            <a:ext cx="6096000" cy="1515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4250" b="1" baseline="0">
                <a:solidFill>
                  <a:srgbClr val="002060"/>
                </a:solidFill>
                <a:latin typeface="Calibri"/>
                <a:ea typeface="Segoe UI"/>
                <a:cs typeface="Segoe UI"/>
              </a:rPr>
              <a:t>Group ID - 25-26J-147</a:t>
            </a:r>
            <a:r>
              <a:rPr lang="en-US" sz="425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5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C12DD6-0E39-9480-A3CE-725BAE166B9B}"/>
              </a:ext>
            </a:extLst>
          </p:cNvPr>
          <p:cNvSpPr txBox="1">
            <a:spLocks/>
          </p:cNvSpPr>
          <p:nvPr/>
        </p:nvSpPr>
        <p:spPr>
          <a:xfrm>
            <a:off x="963120" y="2496592"/>
            <a:ext cx="10363200" cy="1132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Primary users: </a:t>
            </a:r>
            <a:r>
              <a:rPr lang="en-US" sz="1800" dirty="0"/>
              <a:t>HIV patients and HIV-unsure individuals, especially those in rural or remote areas.</a:t>
            </a:r>
          </a:p>
          <a:p>
            <a:r>
              <a:rPr lang="en-US" sz="1800" b="1" dirty="0"/>
              <a:t>Secondary users: </a:t>
            </a:r>
            <a:r>
              <a:rPr lang="en-US" sz="1800" dirty="0"/>
              <a:t>doctors and healthcare providers</a:t>
            </a:r>
            <a:endParaRPr lang="en-US" sz="1800" dirty="0">
              <a:ea typeface="Cambria"/>
            </a:endParaRPr>
          </a:p>
          <a:p>
            <a:r>
              <a:rPr lang="en-US" sz="1800" b="1" dirty="0"/>
              <a:t>Decision makers: </a:t>
            </a:r>
            <a:r>
              <a:rPr lang="en-US" sz="1800" dirty="0"/>
              <a:t>hospitals, clinics, public health systems, and NGOs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49F38BA-E4CE-A416-3533-677B4AE4C9FC}"/>
              </a:ext>
            </a:extLst>
          </p:cNvPr>
          <p:cNvSpPr txBox="1">
            <a:spLocks/>
          </p:cNvSpPr>
          <p:nvPr/>
        </p:nvSpPr>
        <p:spPr>
          <a:xfrm>
            <a:off x="-1824488" y="520035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988BEF-36C1-3EB2-C13F-910B780EDBE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25-26J-147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4A0D9-5424-B231-A6BD-D1627E9A74E9}"/>
              </a:ext>
            </a:extLst>
          </p:cNvPr>
          <p:cNvSpPr txBox="1"/>
          <p:nvPr/>
        </p:nvSpPr>
        <p:spPr>
          <a:xfrm>
            <a:off x="963119" y="2109433"/>
            <a:ext cx="5075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Stakeholders</a:t>
            </a:r>
            <a:endParaRPr lang="en-US" b="1" dirty="0">
              <a:solidFill>
                <a:schemeClr val="accent1">
                  <a:lumMod val="76000"/>
                </a:schemeClr>
              </a:solidFill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EF9FB-CF20-E1ED-9869-F4D15B9BB166}"/>
              </a:ext>
            </a:extLst>
          </p:cNvPr>
          <p:cNvSpPr txBox="1"/>
          <p:nvPr/>
        </p:nvSpPr>
        <p:spPr>
          <a:xfrm>
            <a:off x="963119" y="1046970"/>
            <a:ext cx="5075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E3129-28AC-D75D-F1D7-04EB126EC26F}"/>
              </a:ext>
            </a:extLst>
          </p:cNvPr>
          <p:cNvSpPr txBox="1"/>
          <p:nvPr/>
        </p:nvSpPr>
        <p:spPr>
          <a:xfrm>
            <a:off x="1035304" y="1616068"/>
            <a:ext cx="1073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HIV risk assessment, monitoring, and treatment support in low-resource healthcare environments.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99D29-11B1-6E60-E177-A33A2BAAA797}"/>
              </a:ext>
            </a:extLst>
          </p:cNvPr>
          <p:cNvSpPr txBox="1"/>
          <p:nvPr/>
        </p:nvSpPr>
        <p:spPr>
          <a:xfrm>
            <a:off x="963119" y="3808044"/>
            <a:ext cx="5075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Observed Issue and its impact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59D195-16D9-21FF-3EC4-134C49EE28F5}"/>
              </a:ext>
            </a:extLst>
          </p:cNvPr>
          <p:cNvSpPr txBox="1"/>
          <p:nvPr/>
        </p:nvSpPr>
        <p:spPr>
          <a:xfrm>
            <a:off x="963119" y="4426035"/>
            <a:ext cx="10006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HIV-unsure individuals lack tools to understand their risk and the need for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Diagnosed patients depend on infrequent clinical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Continuous health monitoring is limited.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902D54-3E6D-E628-ED9F-247FEC3F701E}"/>
              </a:ext>
            </a:extLst>
          </p:cNvPr>
          <p:cNvSpPr txBox="1"/>
          <p:nvPr/>
        </p:nvSpPr>
        <p:spPr>
          <a:xfrm>
            <a:off x="965018" y="292929"/>
            <a:ext cx="1036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Problem Statement and Stakeholders</a:t>
            </a:r>
          </a:p>
        </p:txBody>
      </p:sp>
    </p:spTree>
    <p:extLst>
      <p:ext uri="{BB962C8B-B14F-4D97-AF65-F5344CB8AC3E}">
        <p14:creationId xmlns:p14="http://schemas.microsoft.com/office/powerpoint/2010/main" val="71253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6BF0-91F8-F40B-250E-F8E07692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9A448-C5F1-E975-97AA-66FD1C7A02DD}"/>
              </a:ext>
            </a:extLst>
          </p:cNvPr>
          <p:cNvSpPr txBox="1">
            <a:spLocks/>
          </p:cNvSpPr>
          <p:nvPr/>
        </p:nvSpPr>
        <p:spPr>
          <a:xfrm>
            <a:off x="823638" y="1884701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Existing solutions are </a:t>
            </a:r>
            <a:r>
              <a:rPr lang="en-US" sz="2000" b="1" dirty="0"/>
              <a:t>infrequent</a:t>
            </a:r>
            <a:r>
              <a:rPr lang="en-US" sz="2000" dirty="0"/>
              <a:t> and </a:t>
            </a:r>
            <a:r>
              <a:rPr lang="en-US" sz="2000" b="1" dirty="0"/>
              <a:t>non-personalized</a:t>
            </a:r>
          </a:p>
          <a:p>
            <a:r>
              <a:rPr lang="en-US" sz="2000" dirty="0"/>
              <a:t>Lack </a:t>
            </a:r>
            <a:r>
              <a:rPr lang="en-US" sz="2000" b="1" dirty="0"/>
              <a:t>continuous monitoring</a:t>
            </a:r>
            <a:r>
              <a:rPr lang="en-US" sz="2000" dirty="0"/>
              <a:t> </a:t>
            </a:r>
            <a:endParaRPr lang="en-US" sz="2000" b="1" dirty="0"/>
          </a:p>
          <a:p>
            <a:r>
              <a:rPr lang="en-US" sz="2000" dirty="0"/>
              <a:t>Do not integrate </a:t>
            </a:r>
            <a:r>
              <a:rPr lang="en-US" sz="2000" b="1" dirty="0"/>
              <a:t>behavioral risk, physiological monitoring, and AI treatment optimization</a:t>
            </a:r>
            <a:endParaRPr lang="en-US" sz="20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AF17287-01C3-DD6A-03E1-2069CF010679}"/>
              </a:ext>
            </a:extLst>
          </p:cNvPr>
          <p:cNvSpPr txBox="1">
            <a:spLocks/>
          </p:cNvSpPr>
          <p:nvPr/>
        </p:nvSpPr>
        <p:spPr>
          <a:xfrm>
            <a:off x="-1653038" y="578328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7BDC5-3B76-5A25-6012-94DE2C4C6A4F}"/>
              </a:ext>
            </a:extLst>
          </p:cNvPr>
          <p:cNvSpPr/>
          <p:nvPr/>
        </p:nvSpPr>
        <p:spPr>
          <a:xfrm>
            <a:off x="2803885" y="707580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65DE1-3327-2CB6-0DA3-9C4EE7253D9A}"/>
              </a:ext>
            </a:extLst>
          </p:cNvPr>
          <p:cNvSpPr txBox="1"/>
          <p:nvPr/>
        </p:nvSpPr>
        <p:spPr>
          <a:xfrm>
            <a:off x="1020403" y="1142638"/>
            <a:ext cx="5075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Research Gap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DAB5E-0B7C-EDDF-22FC-D7949507089D}"/>
              </a:ext>
            </a:extLst>
          </p:cNvPr>
          <p:cNvSpPr txBox="1"/>
          <p:nvPr/>
        </p:nvSpPr>
        <p:spPr>
          <a:xfrm>
            <a:off x="929641" y="3644666"/>
            <a:ext cx="50755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Main Objective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4707A2E-5953-86A4-FC95-02D0E7A8B323}"/>
              </a:ext>
            </a:extLst>
          </p:cNvPr>
          <p:cNvSpPr txBox="1">
            <a:spLocks/>
          </p:cNvSpPr>
          <p:nvPr/>
        </p:nvSpPr>
        <p:spPr>
          <a:xfrm>
            <a:off x="823638" y="4023318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Develop a </a:t>
            </a:r>
            <a:r>
              <a:rPr lang="en-US" sz="2000" b="1" dirty="0"/>
              <a:t>low-cost, portable IoT &amp; AI system</a:t>
            </a:r>
          </a:p>
          <a:p>
            <a:r>
              <a:rPr lang="en-US" sz="2000" dirty="0"/>
              <a:t>Enable </a:t>
            </a:r>
            <a:r>
              <a:rPr lang="en-US" sz="2000" b="1" dirty="0"/>
              <a:t>continuous HIV risk assessment</a:t>
            </a:r>
            <a:r>
              <a:rPr lang="en-US" sz="2000" dirty="0"/>
              <a:t> for patients and HIV-unsure individuals</a:t>
            </a:r>
          </a:p>
          <a:p>
            <a:r>
              <a:rPr lang="en-US" sz="2000" dirty="0"/>
              <a:t>Provide </a:t>
            </a:r>
            <a:r>
              <a:rPr lang="en-US" sz="2000" b="1" dirty="0"/>
              <a:t>real-time monitoring</a:t>
            </a:r>
            <a:r>
              <a:rPr lang="en-US" sz="2000" dirty="0"/>
              <a:t> and </a:t>
            </a:r>
            <a:r>
              <a:rPr lang="en-US" sz="2000" b="1" dirty="0"/>
              <a:t>personalized treatment optimization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45C18-590E-CC01-733A-498536812EE5}"/>
              </a:ext>
            </a:extLst>
          </p:cNvPr>
          <p:cNvSpPr txBox="1"/>
          <p:nvPr/>
        </p:nvSpPr>
        <p:spPr>
          <a:xfrm>
            <a:off x="1191851" y="427404"/>
            <a:ext cx="8835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Research Gap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359162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B289-F8CC-4261-3642-C14F0BE5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A367DF-AA76-54DE-4654-393307B1EEB1}"/>
              </a:ext>
            </a:extLst>
          </p:cNvPr>
          <p:cNvSpPr txBox="1">
            <a:spLocks/>
          </p:cNvSpPr>
          <p:nvPr/>
        </p:nvSpPr>
        <p:spPr>
          <a:xfrm>
            <a:off x="859017" y="2764890"/>
            <a:ext cx="10363200" cy="18052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FR1</a:t>
            </a:r>
            <a:r>
              <a:rPr lang="en-US" sz="2000" dirty="0"/>
              <a:t> : Behavioral risk assessment and personalized intervention sequencing, and Analytics-Driven Progress Tracking</a:t>
            </a:r>
          </a:p>
          <a:p>
            <a:r>
              <a:rPr lang="en-US" sz="2000" b="1" dirty="0"/>
              <a:t>FR2</a:t>
            </a:r>
            <a:r>
              <a:rPr lang="en-US" sz="2000" dirty="0"/>
              <a:t> : IoT-based real-time physiological monitoring (CD4 prototype-based) </a:t>
            </a:r>
            <a:endParaRPr lang="en-US" sz="2000" dirty="0">
              <a:ea typeface="Cambria"/>
            </a:endParaRPr>
          </a:p>
          <a:p>
            <a:r>
              <a:rPr lang="en-US" sz="2000" b="1" dirty="0"/>
              <a:t>FR3</a:t>
            </a:r>
            <a:r>
              <a:rPr lang="en-US" sz="2000" dirty="0"/>
              <a:t> : AI-driven predictive framework for drug resistance, treatment optimization, and adherence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8894EC3-F928-C3F4-EDAC-5034EF4B8C3C}"/>
              </a:ext>
            </a:extLst>
          </p:cNvPr>
          <p:cNvSpPr txBox="1">
            <a:spLocks/>
          </p:cNvSpPr>
          <p:nvPr/>
        </p:nvSpPr>
        <p:spPr>
          <a:xfrm>
            <a:off x="-1824488" y="580614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B8CA66-6370-937F-59E1-6CC348D183E6}"/>
              </a:ext>
            </a:extLst>
          </p:cNvPr>
          <p:cNvSpPr/>
          <p:nvPr/>
        </p:nvSpPr>
        <p:spPr>
          <a:xfrm>
            <a:off x="2632435" y="709866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12722-A541-A5CE-3B59-1D19B63EE2BC}"/>
              </a:ext>
            </a:extLst>
          </p:cNvPr>
          <p:cNvSpPr txBox="1"/>
          <p:nvPr/>
        </p:nvSpPr>
        <p:spPr>
          <a:xfrm>
            <a:off x="948219" y="2243704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Key Features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B2D09-DA8E-44FD-D8EE-512980971DEA}"/>
              </a:ext>
            </a:extLst>
          </p:cNvPr>
          <p:cNvSpPr txBox="1"/>
          <p:nvPr/>
        </p:nvSpPr>
        <p:spPr>
          <a:xfrm>
            <a:off x="948219" y="4796895"/>
            <a:ext cx="27703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Non-functional focus 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36A09-6784-7C08-DFE2-82EABD11D5BE}"/>
              </a:ext>
            </a:extLst>
          </p:cNvPr>
          <p:cNvSpPr txBox="1"/>
          <p:nvPr/>
        </p:nvSpPr>
        <p:spPr>
          <a:xfrm>
            <a:off x="3718560" y="4812284"/>
            <a:ext cx="483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| security | usability | reliability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F38E2-D004-3092-7E44-E0896FA39830}"/>
              </a:ext>
            </a:extLst>
          </p:cNvPr>
          <p:cNvSpPr txBox="1"/>
          <p:nvPr/>
        </p:nvSpPr>
        <p:spPr>
          <a:xfrm>
            <a:off x="948219" y="5405611"/>
            <a:ext cx="657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Current Completion Status -   </a:t>
            </a:r>
            <a:r>
              <a:rPr lang="en-US" dirty="0"/>
              <a:t>~90%+ complete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B1637-F976-B5A2-243F-ADB982FE528D}"/>
              </a:ext>
            </a:extLst>
          </p:cNvPr>
          <p:cNvSpPr txBox="1"/>
          <p:nvPr/>
        </p:nvSpPr>
        <p:spPr>
          <a:xfrm>
            <a:off x="1018806" y="331470"/>
            <a:ext cx="1036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Solution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E79B76-A1D1-D51D-CDC6-B9C2FC472610}"/>
              </a:ext>
            </a:extLst>
          </p:cNvPr>
          <p:cNvSpPr txBox="1"/>
          <p:nvPr/>
        </p:nvSpPr>
        <p:spPr>
          <a:xfrm>
            <a:off x="948219" y="1061468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Solution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011B5-8800-2421-FA11-3F6DC82DA475}"/>
              </a:ext>
            </a:extLst>
          </p:cNvPr>
          <p:cNvSpPr txBox="1"/>
          <p:nvPr/>
        </p:nvSpPr>
        <p:spPr>
          <a:xfrm>
            <a:off x="1018806" y="1536835"/>
            <a:ext cx="9679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integrated IoT and AI system for continuous HIV risk assessment, real-time health monitoring, and personalized treatment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6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4CC1-CE3C-571A-A8B8-FD436A37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BC4C2-29AA-F341-5E3A-25E170A24155}"/>
              </a:ext>
            </a:extLst>
          </p:cNvPr>
          <p:cNvSpPr txBox="1">
            <a:spLocks/>
          </p:cNvSpPr>
          <p:nvPr/>
        </p:nvSpPr>
        <p:spPr>
          <a:xfrm>
            <a:off x="652188" y="1301772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09B0ED0-1694-7332-457C-6E5E68A4CD3C}"/>
              </a:ext>
            </a:extLst>
          </p:cNvPr>
          <p:cNvSpPr txBox="1">
            <a:spLocks/>
          </p:cNvSpPr>
          <p:nvPr/>
        </p:nvSpPr>
        <p:spPr>
          <a:xfrm>
            <a:off x="-1824488" y="520035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748F09-B429-70BC-40E6-B8B21798403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0A620-D4E7-8BB8-2E33-9967423ADF6F}"/>
              </a:ext>
            </a:extLst>
          </p:cNvPr>
          <p:cNvSpPr txBox="1"/>
          <p:nvPr/>
        </p:nvSpPr>
        <p:spPr>
          <a:xfrm>
            <a:off x="871812" y="219965"/>
            <a:ext cx="1036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a typeface="Cambria"/>
              </a:rPr>
              <a:t>System Architecture and Integration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698CAAB-72A0-92E5-10F6-5CBDA1393855}"/>
              </a:ext>
            </a:extLst>
          </p:cNvPr>
          <p:cNvSpPr txBox="1">
            <a:spLocks/>
          </p:cNvSpPr>
          <p:nvPr/>
        </p:nvSpPr>
        <p:spPr>
          <a:xfrm>
            <a:off x="652188" y="3803800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37136-B134-0936-BA3A-384D7D7CD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9" b="20000"/>
          <a:stretch>
            <a:fillRect/>
          </a:stretch>
        </p:blipFill>
        <p:spPr>
          <a:xfrm>
            <a:off x="871812" y="753854"/>
            <a:ext cx="10953351" cy="5116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752300-4B66-255B-4036-9E4CA84C2C63}"/>
              </a:ext>
            </a:extLst>
          </p:cNvPr>
          <p:cNvSpPr/>
          <p:nvPr/>
        </p:nvSpPr>
        <p:spPr>
          <a:xfrm>
            <a:off x="1354241" y="2208730"/>
            <a:ext cx="1398791" cy="190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IT2290706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BEA17F-D8D8-1D5A-EF49-73B2EEFEFEE7}"/>
              </a:ext>
            </a:extLst>
          </p:cNvPr>
          <p:cNvSpPr/>
          <p:nvPr/>
        </p:nvSpPr>
        <p:spPr>
          <a:xfrm>
            <a:off x="3229257" y="2230466"/>
            <a:ext cx="1710812" cy="299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IT2290706 / IT2258553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IT22577610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D848B-B720-6D07-F9AD-99768E0A9E30}"/>
              </a:ext>
            </a:extLst>
          </p:cNvPr>
          <p:cNvSpPr/>
          <p:nvPr/>
        </p:nvSpPr>
        <p:spPr>
          <a:xfrm>
            <a:off x="5441164" y="2584253"/>
            <a:ext cx="1309671" cy="197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IT2258553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482B2A-FBFC-F7A5-28EC-A496A2D4B6EA}"/>
              </a:ext>
            </a:extLst>
          </p:cNvPr>
          <p:cNvSpPr/>
          <p:nvPr/>
        </p:nvSpPr>
        <p:spPr>
          <a:xfrm>
            <a:off x="7251930" y="2584253"/>
            <a:ext cx="1309671" cy="197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IT2257761</a:t>
            </a:r>
          </a:p>
        </p:txBody>
      </p:sp>
    </p:spTree>
    <p:extLst>
      <p:ext uri="{BB962C8B-B14F-4D97-AF65-F5344CB8AC3E}">
        <p14:creationId xmlns:p14="http://schemas.microsoft.com/office/powerpoint/2010/main" val="370094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605E-5100-3222-8F4B-A3F8BFB8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B1FF61-B268-FE29-41F1-A530D711BD5D}"/>
              </a:ext>
            </a:extLst>
          </p:cNvPr>
          <p:cNvSpPr txBox="1">
            <a:spLocks/>
          </p:cNvSpPr>
          <p:nvPr/>
        </p:nvSpPr>
        <p:spPr>
          <a:xfrm>
            <a:off x="652188" y="1301772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F1B67CA-C9EA-8092-8D73-8C9B1AEDE5D3}"/>
              </a:ext>
            </a:extLst>
          </p:cNvPr>
          <p:cNvSpPr txBox="1">
            <a:spLocks/>
          </p:cNvSpPr>
          <p:nvPr/>
        </p:nvSpPr>
        <p:spPr>
          <a:xfrm>
            <a:off x="-1824488" y="520035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3B1071-A245-A6F5-4081-6B38950DCAF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7C678-E4E7-4A8D-4B7A-03E59C8BFE47}"/>
              </a:ext>
            </a:extLst>
          </p:cNvPr>
          <p:cNvSpPr txBox="1"/>
          <p:nvPr/>
        </p:nvSpPr>
        <p:spPr>
          <a:xfrm>
            <a:off x="782817" y="819947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Target Users/ Market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5F3A4E-CD9D-7871-E4D1-4F0A8CC79B1D}"/>
              </a:ext>
            </a:extLst>
          </p:cNvPr>
          <p:cNvSpPr txBox="1">
            <a:spLocks/>
          </p:cNvSpPr>
          <p:nvPr/>
        </p:nvSpPr>
        <p:spPr>
          <a:xfrm>
            <a:off x="652188" y="3803800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CC725-4DE3-06DF-885C-961F783A0FD8}"/>
              </a:ext>
            </a:extLst>
          </p:cNvPr>
          <p:cNvSpPr txBox="1"/>
          <p:nvPr/>
        </p:nvSpPr>
        <p:spPr>
          <a:xfrm>
            <a:off x="965019" y="1278059"/>
            <a:ext cx="1075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HIV patients, HIV-unsure individuals, doctors, clinics, and public health systems, especially in low-resource or rural areas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EA4D3-F0E0-0BAB-4A7F-A42E4C441EC0}"/>
              </a:ext>
            </a:extLst>
          </p:cNvPr>
          <p:cNvSpPr txBox="1"/>
          <p:nvPr/>
        </p:nvSpPr>
        <p:spPr>
          <a:xfrm>
            <a:off x="782817" y="200940"/>
            <a:ext cx="1036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Commercialization /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ADA56-6831-F5A0-C271-39D6A251ABA3}"/>
              </a:ext>
            </a:extLst>
          </p:cNvPr>
          <p:cNvSpPr txBox="1"/>
          <p:nvPr/>
        </p:nvSpPr>
        <p:spPr>
          <a:xfrm>
            <a:off x="782816" y="2076887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Value Proposition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1FD7C-C43F-B2E7-6AD7-E314490C2890}"/>
              </a:ext>
            </a:extLst>
          </p:cNvPr>
          <p:cNvSpPr txBox="1"/>
          <p:nvPr/>
        </p:nvSpPr>
        <p:spPr>
          <a:xfrm>
            <a:off x="962636" y="2541761"/>
            <a:ext cx="1036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Low-cost, portable, and personalized HIV monitoring and treatment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risk detection and decision-making than current alternatives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91553-C389-EA20-7B35-EF98252852B4}"/>
              </a:ext>
            </a:extLst>
          </p:cNvPr>
          <p:cNvSpPr txBox="1"/>
          <p:nvPr/>
        </p:nvSpPr>
        <p:spPr>
          <a:xfrm>
            <a:off x="782815" y="3247754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Cost and feasibility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68239-525A-F9EE-9D83-8AED73F86918}"/>
              </a:ext>
            </a:extLst>
          </p:cNvPr>
          <p:cNvSpPr txBox="1"/>
          <p:nvPr/>
        </p:nvSpPr>
        <p:spPr>
          <a:xfrm>
            <a:off x="962636" y="3647864"/>
            <a:ext cx="9962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IoT device: </a:t>
            </a:r>
            <a:r>
              <a:rPr lang="en-US" dirty="0"/>
              <a:t>~Rs. 5,000</a:t>
            </a:r>
            <a:br>
              <a:rPr lang="en-US" dirty="0"/>
            </a:br>
            <a:r>
              <a:rPr lang="en-US" b="1" dirty="0"/>
              <a:t>Mobile app: </a:t>
            </a:r>
            <a:r>
              <a:rPr lang="en-GB" dirty="0"/>
              <a:t>Low-cost and scalable for public use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4A05D-F5A8-6DDF-7429-2F04BBB10892}"/>
              </a:ext>
            </a:extLst>
          </p:cNvPr>
          <p:cNvSpPr txBox="1"/>
          <p:nvPr/>
        </p:nvSpPr>
        <p:spPr>
          <a:xfrm>
            <a:off x="782814" y="4450131"/>
            <a:ext cx="50755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6000"/>
                  </a:schemeClr>
                </a:solidFill>
                <a:ea typeface="Cambria"/>
              </a:rPr>
              <a:t>Adoption plan/ next steps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5561-35E1-B28D-2AA6-1CD05AE1E91E}"/>
              </a:ext>
            </a:extLst>
          </p:cNvPr>
          <p:cNvSpPr txBox="1"/>
          <p:nvPr/>
        </p:nvSpPr>
        <p:spPr>
          <a:xfrm>
            <a:off x="962636" y="4877187"/>
            <a:ext cx="1054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Pilot test in a few clinics </a:t>
            </a:r>
            <a:r>
              <a:rPr lang="en-US" b="1" dirty="0">
                <a:solidFill>
                  <a:srgbClr val="FF0000"/>
                </a:solidFill>
              </a:rPr>
              <a:t>→</a:t>
            </a:r>
            <a:r>
              <a:rPr lang="en-US" dirty="0"/>
              <a:t> </a:t>
            </a:r>
            <a:r>
              <a:rPr lang="en-GB" dirty="0"/>
              <a:t>Collect feedback and make improvements </a:t>
            </a:r>
            <a:r>
              <a:rPr lang="en-US" b="1" dirty="0">
                <a:solidFill>
                  <a:srgbClr val="FF0000"/>
                </a:solidFill>
              </a:rPr>
              <a:t>→</a:t>
            </a:r>
            <a:r>
              <a:rPr lang="en-US" dirty="0"/>
              <a:t> </a:t>
            </a:r>
            <a:r>
              <a:rPr lang="en-GB" dirty="0"/>
              <a:t>Expand to more hospitals and public health programs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44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847E-D184-A9E3-4AA4-F9FB49FC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BD57E9-7A19-62FD-F336-16DCD9AE8580}"/>
              </a:ext>
            </a:extLst>
          </p:cNvPr>
          <p:cNvSpPr txBox="1">
            <a:spLocks/>
          </p:cNvSpPr>
          <p:nvPr/>
        </p:nvSpPr>
        <p:spPr>
          <a:xfrm>
            <a:off x="652188" y="1301772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E8B48A5-A707-B1C2-073D-1BD10E7C62CB}"/>
              </a:ext>
            </a:extLst>
          </p:cNvPr>
          <p:cNvSpPr txBox="1">
            <a:spLocks/>
          </p:cNvSpPr>
          <p:nvPr/>
        </p:nvSpPr>
        <p:spPr>
          <a:xfrm>
            <a:off x="-1824488" y="520035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3D99AD-3909-9181-89A5-683238BD1B3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7CD5B-96C2-98F8-29E0-BF4786331E6E}"/>
              </a:ext>
            </a:extLst>
          </p:cNvPr>
          <p:cNvSpPr txBox="1"/>
          <p:nvPr/>
        </p:nvSpPr>
        <p:spPr>
          <a:xfrm>
            <a:off x="871812" y="219965"/>
            <a:ext cx="1036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a typeface="Cambria"/>
              </a:rPr>
              <a:t>Clinical Validation by Dr.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ea typeface="Cambria"/>
              </a:rPr>
              <a:t>Kokilanthi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a typeface="Cambria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ea typeface="Cambria"/>
              </a:rPr>
              <a:t>Dharmarathne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a typeface="Cambria"/>
              </a:rPr>
              <a:t> (Venereologist), Teaching Hospital Kalutara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8E33F1D-C2BF-7582-C3FF-073C7DB9FD64}"/>
              </a:ext>
            </a:extLst>
          </p:cNvPr>
          <p:cNvSpPr txBox="1">
            <a:spLocks/>
          </p:cNvSpPr>
          <p:nvPr/>
        </p:nvSpPr>
        <p:spPr>
          <a:xfrm>
            <a:off x="652188" y="3803800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647E3B-FD29-B0D4-3228-C928E9E7B8A4}"/>
              </a:ext>
            </a:extLst>
          </p:cNvPr>
          <p:cNvSpPr/>
          <p:nvPr/>
        </p:nvSpPr>
        <p:spPr>
          <a:xfrm>
            <a:off x="1445342" y="2300748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7052E-15EC-CF26-AE6C-F7EA763E1C52}"/>
              </a:ext>
            </a:extLst>
          </p:cNvPr>
          <p:cNvSpPr/>
          <p:nvPr/>
        </p:nvSpPr>
        <p:spPr>
          <a:xfrm>
            <a:off x="3357112" y="2294408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B1FE09-C9EA-0435-F749-11917E7E65F9}"/>
              </a:ext>
            </a:extLst>
          </p:cNvPr>
          <p:cNvSpPr/>
          <p:nvPr/>
        </p:nvSpPr>
        <p:spPr>
          <a:xfrm>
            <a:off x="5240241" y="2585003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07D873-5264-F3D7-272C-AC961829CE03}"/>
              </a:ext>
            </a:extLst>
          </p:cNvPr>
          <p:cNvSpPr/>
          <p:nvPr/>
        </p:nvSpPr>
        <p:spPr>
          <a:xfrm>
            <a:off x="6940721" y="2593645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03D939-C912-AA13-5562-28AE17692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50" y="1050962"/>
            <a:ext cx="7000568" cy="525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2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2E10-D7B3-0ACF-FE31-05EDD6D9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8CFA9E-5938-1DE7-1CE1-3591F758B0EF}"/>
              </a:ext>
            </a:extLst>
          </p:cNvPr>
          <p:cNvSpPr txBox="1">
            <a:spLocks/>
          </p:cNvSpPr>
          <p:nvPr/>
        </p:nvSpPr>
        <p:spPr>
          <a:xfrm>
            <a:off x="652188" y="1301772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8D102AF-F21A-88BA-C61F-B9B578374AEB}"/>
              </a:ext>
            </a:extLst>
          </p:cNvPr>
          <p:cNvSpPr txBox="1">
            <a:spLocks/>
          </p:cNvSpPr>
          <p:nvPr/>
        </p:nvSpPr>
        <p:spPr>
          <a:xfrm>
            <a:off x="-1824488" y="5200353"/>
            <a:ext cx="10363200" cy="1884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B41DD6-0313-825F-E0B0-4124B8F283D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25-26J-147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1EFB1-2110-5DF6-8A7F-039E84FF8360}"/>
              </a:ext>
            </a:extLst>
          </p:cNvPr>
          <p:cNvSpPr txBox="1"/>
          <p:nvPr/>
        </p:nvSpPr>
        <p:spPr>
          <a:xfrm>
            <a:off x="871812" y="219965"/>
            <a:ext cx="1036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a typeface="Cambria"/>
              </a:rPr>
              <a:t>Letter of Clinical Validation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20D2097-5669-06E0-0347-BEBD95682536}"/>
              </a:ext>
            </a:extLst>
          </p:cNvPr>
          <p:cNvSpPr txBox="1">
            <a:spLocks/>
          </p:cNvSpPr>
          <p:nvPr/>
        </p:nvSpPr>
        <p:spPr>
          <a:xfrm>
            <a:off x="652188" y="3803800"/>
            <a:ext cx="10363200" cy="1479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52E2C-1273-E722-E9D7-F39573CEFFA9}"/>
              </a:ext>
            </a:extLst>
          </p:cNvPr>
          <p:cNvSpPr/>
          <p:nvPr/>
        </p:nvSpPr>
        <p:spPr>
          <a:xfrm>
            <a:off x="1445342" y="2300748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0FFAB-2764-587B-5FE2-1BCB5271FC06}"/>
              </a:ext>
            </a:extLst>
          </p:cNvPr>
          <p:cNvSpPr/>
          <p:nvPr/>
        </p:nvSpPr>
        <p:spPr>
          <a:xfrm>
            <a:off x="3357112" y="2294408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6B7A8-1F3D-BEAC-FEEE-30813DEDE786}"/>
              </a:ext>
            </a:extLst>
          </p:cNvPr>
          <p:cNvSpPr/>
          <p:nvPr/>
        </p:nvSpPr>
        <p:spPr>
          <a:xfrm>
            <a:off x="5240241" y="2585003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CF604-5F63-A420-071A-2DE4DAF61FBA}"/>
              </a:ext>
            </a:extLst>
          </p:cNvPr>
          <p:cNvSpPr/>
          <p:nvPr/>
        </p:nvSpPr>
        <p:spPr>
          <a:xfrm>
            <a:off x="6940721" y="2593645"/>
            <a:ext cx="1187093" cy="20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DE1076-F2FD-C672-FF28-AC4A6C3B1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3" b="10967"/>
          <a:stretch>
            <a:fillRect/>
          </a:stretch>
        </p:blipFill>
        <p:spPr>
          <a:xfrm>
            <a:off x="3754636" y="750213"/>
            <a:ext cx="4682728" cy="551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7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38DF523A-1A54-4AE9-919C-79BCFF689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FD2F59-F761-48AE-BA1C-E60D4A4371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AF88E-D15F-430F-8C37-1B87B04C7EDA}">
  <ds:schemaRefs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db72c12f-87a4-44ab-bbc5-4cc8306b158a"/>
    <ds:schemaRef ds:uri="http://schemas.openxmlformats.org/package/2006/metadata/core-properties"/>
    <ds:schemaRef ds:uri="b315195e-671e-423b-bef2-4f1205612242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383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IoT and AI Based Decision Support System for HIV: Integrated Risk Assessment, Monitoring, and Treatment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JAYARATHNA J.V.D it22577610</cp:lastModifiedBy>
  <cp:revision>74</cp:revision>
  <dcterms:created xsi:type="dcterms:W3CDTF">2025-08-25T09:34:25Z</dcterms:created>
  <dcterms:modified xsi:type="dcterms:W3CDTF">2026-04-26T08:05:33Z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